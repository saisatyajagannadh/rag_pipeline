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 algn="ctr" defTabSz="825500">
              <a:lnSpc>
                <a:spcPct val="100000"/>
              </a:lnSpc>
              <a:defRPr b="0" spc="0" sz="11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400"/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400"/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400"/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400"/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</p:spPr>
        <p:txBody>
          <a:bodyPr anchor="t"/>
          <a:lstStyle>
            <a:lvl1pPr defTabSz="825500"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inecone"/>
          <p:cNvSpPr txBox="1"/>
          <p:nvPr/>
        </p:nvSpPr>
        <p:spPr>
          <a:xfrm>
            <a:off x="4397219" y="3294403"/>
            <a:ext cx="540639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Pinecone</a:t>
            </a:r>
          </a:p>
        </p:txBody>
      </p:sp>
      <p:sp>
        <p:nvSpPr>
          <p:cNvPr id="161" name="Weaviate"/>
          <p:cNvSpPr txBox="1"/>
          <p:nvPr/>
        </p:nvSpPr>
        <p:spPr>
          <a:xfrm>
            <a:off x="14197174" y="4386603"/>
            <a:ext cx="526288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Weaviate</a:t>
            </a:r>
          </a:p>
        </p:txBody>
      </p:sp>
      <p:sp>
        <p:nvSpPr>
          <p:cNvPr id="162" name="ChromaDB"/>
          <p:cNvSpPr txBox="1"/>
          <p:nvPr/>
        </p:nvSpPr>
        <p:spPr>
          <a:xfrm>
            <a:off x="3597754" y="7129803"/>
            <a:ext cx="639572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ChromaDB</a:t>
            </a:r>
          </a:p>
        </p:txBody>
      </p:sp>
      <p:sp>
        <p:nvSpPr>
          <p:cNvPr id="163" name="Milvus"/>
          <p:cNvSpPr txBox="1"/>
          <p:nvPr/>
        </p:nvSpPr>
        <p:spPr>
          <a:xfrm>
            <a:off x="16319979" y="7694929"/>
            <a:ext cx="3760471" cy="1577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Milvus</a:t>
            </a:r>
          </a:p>
        </p:txBody>
      </p:sp>
      <p:sp>
        <p:nvSpPr>
          <p:cNvPr id="164" name="Vespa"/>
          <p:cNvSpPr txBox="1"/>
          <p:nvPr/>
        </p:nvSpPr>
        <p:spPr>
          <a:xfrm>
            <a:off x="9733759" y="10457203"/>
            <a:ext cx="357251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Vespa</a:t>
            </a:r>
          </a:p>
        </p:txBody>
      </p:sp>
      <p:sp>
        <p:nvSpPr>
          <p:cNvPr id="165" name="Why PostgreSQL (pgvector)"/>
          <p:cNvSpPr txBox="1"/>
          <p:nvPr/>
        </p:nvSpPr>
        <p:spPr>
          <a:xfrm>
            <a:off x="319249" y="348642"/>
            <a:ext cx="1686433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Why PostgreSQL (pgvector)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0" grpId="2"/>
      <p:bldP build="whole" bldLvl="1" animBg="1" rev="0" advAuto="0" spid="163" grpId="5"/>
      <p:bldP build="whole" bldLvl="1" animBg="1" rev="0" advAuto="0" spid="162" grpId="4"/>
      <p:bldP build="whole" bldLvl="1" animBg="1" rev="0" advAuto="0" spid="165" grpId="1"/>
      <p:bldP build="whole" bldLvl="1" animBg="1" rev="0" advAuto="0" spid="161" grpId="3"/>
      <p:bldP build="whole" bldLvl="1" animBg="1" rev="0" advAuto="0" spid="164" grpId="6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pecialized vector DBs"/>
          <p:cNvSpPr txBox="1"/>
          <p:nvPr/>
        </p:nvSpPr>
        <p:spPr>
          <a:xfrm>
            <a:off x="469131" y="663184"/>
            <a:ext cx="801547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Specialized vector DBs</a:t>
            </a:r>
          </a:p>
        </p:txBody>
      </p:sp>
      <p:sp>
        <p:nvSpPr>
          <p:cNvPr id="168" name="= Extra complexity"/>
          <p:cNvSpPr txBox="1"/>
          <p:nvPr/>
        </p:nvSpPr>
        <p:spPr>
          <a:xfrm>
            <a:off x="8374881" y="663184"/>
            <a:ext cx="668197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 = Extra complexity</a:t>
            </a:r>
          </a:p>
        </p:txBody>
      </p:sp>
      <p:sp>
        <p:nvSpPr>
          <p:cNvPr id="169" name="Hard to integrate with relational/metadata"/>
          <p:cNvSpPr txBox="1"/>
          <p:nvPr/>
        </p:nvSpPr>
        <p:spPr>
          <a:xfrm>
            <a:off x="388486" y="2441145"/>
            <a:ext cx="1424101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Hard to integrate with relational/metadata</a:t>
            </a:r>
          </a:p>
        </p:txBody>
      </p:sp>
      <p:sp>
        <p:nvSpPr>
          <p:cNvPr id="170" name="Vendor lock-in and cost concerns"/>
          <p:cNvSpPr txBox="1"/>
          <p:nvPr/>
        </p:nvSpPr>
        <p:spPr>
          <a:xfrm>
            <a:off x="451605" y="4219106"/>
            <a:ext cx="11574781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Vendor lock-in and cost concerns</a:t>
            </a:r>
          </a:p>
        </p:txBody>
      </p:sp>
      <p:sp>
        <p:nvSpPr>
          <p:cNvPr id="171" name="Handles structured + vector + text"/>
          <p:cNvSpPr txBox="1"/>
          <p:nvPr/>
        </p:nvSpPr>
        <p:spPr>
          <a:xfrm>
            <a:off x="8583373" y="6695529"/>
            <a:ext cx="11770446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Handles </a:t>
            </a:r>
            <a:r>
              <a:t>structured + vector + text</a:t>
            </a:r>
          </a:p>
        </p:txBody>
      </p:sp>
      <p:sp>
        <p:nvSpPr>
          <p:cNvPr id="172" name="Mature, reliable, ACID compliant"/>
          <p:cNvSpPr txBox="1"/>
          <p:nvPr/>
        </p:nvSpPr>
        <p:spPr>
          <a:xfrm>
            <a:off x="8592365" y="8217341"/>
            <a:ext cx="11041262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Mature, reliable, ACID compliant</a:t>
            </a:r>
          </a:p>
        </p:txBody>
      </p:sp>
      <p:sp>
        <p:nvSpPr>
          <p:cNvPr id="173" name="Open-source, cost-effective"/>
          <p:cNvSpPr txBox="1"/>
          <p:nvPr/>
        </p:nvSpPr>
        <p:spPr>
          <a:xfrm>
            <a:off x="8514850" y="9739154"/>
            <a:ext cx="9418292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Open-source, cost-effective</a:t>
            </a:r>
          </a:p>
        </p:txBody>
      </p:sp>
      <p:sp>
        <p:nvSpPr>
          <p:cNvPr id="174" name="Runs everywhere (local, cloud, containers)"/>
          <p:cNvSpPr txBox="1"/>
          <p:nvPr/>
        </p:nvSpPr>
        <p:spPr>
          <a:xfrm>
            <a:off x="8532313" y="11260967"/>
            <a:ext cx="14514166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r>
              <a:rPr>
                <a:latin typeface="Helvetica"/>
                <a:ea typeface="Helvetica"/>
                <a:cs typeface="Helvetica"/>
                <a:sym typeface="Helvetica"/>
              </a:rPr>
              <a:t>Runs everywhere (local, cloud, containers)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3" grpId="7"/>
      <p:bldP build="whole" bldLvl="1" animBg="1" rev="0" advAuto="0" spid="168" grpId="2"/>
      <p:bldP build="whole" bldLvl="1" animBg="1" rev="0" advAuto="0" spid="169" grpId="3"/>
      <p:bldP build="whole" bldLvl="1" animBg="1" rev="0" advAuto="0" spid="167" grpId="1"/>
      <p:bldP build="whole" bldLvl="1" animBg="1" rev="0" advAuto="0" spid="171" grpId="5"/>
      <p:bldP build="whole" bldLvl="1" animBg="1" rev="0" advAuto="0" spid="172" grpId="6"/>
      <p:bldP build="whole" bldLvl="1" animBg="1" rev="0" advAuto="0" spid="170" grpId="4"/>
      <p:bldP build="whole" bldLvl="1" animBg="1" rev="0" advAuto="0" spid="174" grpId="8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Unified Queries"/>
          <p:cNvSpPr txBox="1"/>
          <p:nvPr/>
        </p:nvSpPr>
        <p:spPr>
          <a:xfrm>
            <a:off x="357349" y="348642"/>
            <a:ext cx="947293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Unified Queries</a:t>
            </a:r>
          </a:p>
        </p:txBody>
      </p:sp>
      <p:sp>
        <p:nvSpPr>
          <p:cNvPr id="177" name="SELECT *…"/>
          <p:cNvSpPr txBox="1"/>
          <p:nvPr/>
        </p:nvSpPr>
        <p:spPr>
          <a:xfrm>
            <a:off x="6534270" y="3446516"/>
            <a:ext cx="12480058" cy="391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AA0D91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SELECT</a:t>
            </a:r>
            <a:r>
              <a:rPr>
                <a:solidFill>
                  <a:srgbClr val="000000"/>
                </a:solidFill>
              </a:rPr>
              <a:t> * </a:t>
            </a:r>
            <a:endParaRPr>
              <a:solidFill>
                <a:srgbClr val="000000"/>
              </a:solidFill>
            </a:endParaRP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AA0D91"/>
                </a:solidFill>
              </a:rPr>
              <a:t>FROM</a:t>
            </a:r>
            <a:r>
              <a:t> documents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AA0D91"/>
                </a:solidFill>
              </a:rPr>
              <a:t>WHERE</a:t>
            </a:r>
            <a:r>
              <a:t> metadata-&gt;&gt;</a:t>
            </a:r>
            <a:r>
              <a:rPr>
                <a:solidFill>
                  <a:srgbClr val="C41A16"/>
                </a:solidFill>
              </a:rPr>
              <a:t>'category'</a:t>
            </a:r>
            <a:r>
              <a:t> = </a:t>
            </a:r>
            <a:r>
              <a:rPr>
                <a:solidFill>
                  <a:srgbClr val="C41A16"/>
                </a:solidFill>
              </a:rPr>
              <a:t>‘hr_policy’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solidFill>
                  <a:srgbClr val="AA0D91"/>
                </a:solidFill>
              </a:rPr>
              <a:t>ORDER</a:t>
            </a:r>
            <a:r>
              <a:t> </a:t>
            </a:r>
            <a:r>
              <a:rPr>
                <a:solidFill>
                  <a:srgbClr val="AA0D91"/>
                </a:solidFill>
              </a:rPr>
              <a:t>BY</a:t>
            </a:r>
            <a:r>
              <a:t> embedding &lt;#&gt; query_vector</a:t>
            </a:r>
          </a:p>
          <a:p>
            <a:pPr algn="l"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5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LIMIT </a:t>
            </a:r>
            <a:r>
              <a:rPr>
                <a:solidFill>
                  <a:srgbClr val="1C00CF"/>
                </a:solidFill>
              </a:rPr>
              <a:t>5</a:t>
            </a:r>
            <a:r>
              <a:t>;</a:t>
            </a:r>
          </a:p>
        </p:txBody>
      </p:sp>
      <p:sp>
        <p:nvSpPr>
          <p:cNvPr id="178" name="SQL + Vectors + Metadata"/>
          <p:cNvSpPr txBox="1"/>
          <p:nvPr/>
        </p:nvSpPr>
        <p:spPr>
          <a:xfrm>
            <a:off x="3470363" y="8829129"/>
            <a:ext cx="8502474" cy="920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5300"/>
            </a:lvl1pPr>
          </a:lstStyle>
          <a:p>
            <a:pPr/>
            <a:r>
              <a:t>SQL + Vectors + Metadata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7" grpId="2"/>
      <p:bldP build="whole" bldLvl="1" animBg="1" rev="0" advAuto="0" spid="176" grpId="1"/>
      <p:bldP build="whole" bldLvl="1" animBg="1" rev="0" advAuto="0" spid="178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Vector Indexes"/>
          <p:cNvSpPr txBox="1"/>
          <p:nvPr/>
        </p:nvSpPr>
        <p:spPr>
          <a:xfrm>
            <a:off x="544674" y="348642"/>
            <a:ext cx="909828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Vector Indexes</a:t>
            </a:r>
          </a:p>
        </p:txBody>
      </p:sp>
      <p:sp>
        <p:nvSpPr>
          <p:cNvPr id="181" name="Deployment Advantage"/>
          <p:cNvSpPr txBox="1"/>
          <p:nvPr/>
        </p:nvSpPr>
        <p:spPr>
          <a:xfrm>
            <a:off x="622440" y="5931224"/>
            <a:ext cx="1422527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Deployment Advantage</a:t>
            </a:r>
          </a:p>
        </p:txBody>
      </p:sp>
      <p:sp>
        <p:nvSpPr>
          <p:cNvPr id="182" name="HNSW"/>
          <p:cNvSpPr txBox="1"/>
          <p:nvPr/>
        </p:nvSpPr>
        <p:spPr>
          <a:xfrm>
            <a:off x="5809503" y="3082227"/>
            <a:ext cx="3180589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HNSW</a:t>
            </a:r>
          </a:p>
        </p:txBody>
      </p:sp>
      <p:sp>
        <p:nvSpPr>
          <p:cNvPr id="183" name="IVFFlat"/>
          <p:cNvSpPr txBox="1"/>
          <p:nvPr/>
        </p:nvSpPr>
        <p:spPr>
          <a:xfrm>
            <a:off x="11822528" y="3082227"/>
            <a:ext cx="325577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IVFFlat</a:t>
            </a:r>
          </a:p>
        </p:txBody>
      </p:sp>
      <p:sp>
        <p:nvSpPr>
          <p:cNvPr id="184" name="Docker + pgvector setup"/>
          <p:cNvSpPr txBox="1"/>
          <p:nvPr/>
        </p:nvSpPr>
        <p:spPr>
          <a:xfrm>
            <a:off x="1149110" y="7810824"/>
            <a:ext cx="1139393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Docker + pgvector setup</a:t>
            </a:r>
          </a:p>
        </p:txBody>
      </p:sp>
      <p:sp>
        <p:nvSpPr>
          <p:cNvPr id="185" name="Storage"/>
          <p:cNvSpPr txBox="1"/>
          <p:nvPr/>
        </p:nvSpPr>
        <p:spPr>
          <a:xfrm>
            <a:off x="3543567" y="9604318"/>
            <a:ext cx="279501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Storage</a:t>
            </a:r>
          </a:p>
        </p:txBody>
      </p:sp>
      <p:sp>
        <p:nvSpPr>
          <p:cNvPr id="186" name="Health"/>
          <p:cNvSpPr txBox="1"/>
          <p:nvPr/>
        </p:nvSpPr>
        <p:spPr>
          <a:xfrm>
            <a:off x="7747966" y="9604318"/>
            <a:ext cx="231571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Health</a:t>
            </a:r>
          </a:p>
        </p:txBody>
      </p:sp>
      <p:sp>
        <p:nvSpPr>
          <p:cNvPr id="187" name="Initialization"/>
          <p:cNvSpPr txBox="1"/>
          <p:nvPr/>
        </p:nvSpPr>
        <p:spPr>
          <a:xfrm>
            <a:off x="11473067" y="9604318"/>
            <a:ext cx="4106419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Initialization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7" grpId="8"/>
      <p:bldP build="whole" bldLvl="1" animBg="1" rev="0" advAuto="0" spid="183" grpId="3"/>
      <p:bldP build="whole" bldLvl="1" animBg="1" rev="0" advAuto="0" spid="184" grpId="5"/>
      <p:bldP build="whole" bldLvl="1" animBg="1" rev="0" advAuto="0" spid="180" grpId="1"/>
      <p:bldP build="whole" bldLvl="1" animBg="1" rev="0" advAuto="0" spid="185" grpId="6"/>
      <p:bldP build="whole" bldLvl="1" animBg="1" rev="0" advAuto="0" spid="181" grpId="4"/>
      <p:bldP build="whole" bldLvl="1" animBg="1" rev="0" advAuto="0" spid="186" grpId="7"/>
      <p:bldP build="whole" bldLvl="1" animBg="1" rev="0" advAuto="0" spid="182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Document"/>
          <p:cNvSpPr/>
          <p:nvPr/>
        </p:nvSpPr>
        <p:spPr>
          <a:xfrm>
            <a:off x="11082615" y="10003044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0" name="Text Document"/>
          <p:cNvSpPr/>
          <p:nvPr/>
        </p:nvSpPr>
        <p:spPr>
          <a:xfrm>
            <a:off x="12877766" y="10101267"/>
            <a:ext cx="1531314" cy="1983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1" name="Text Document"/>
          <p:cNvSpPr/>
          <p:nvPr/>
        </p:nvSpPr>
        <p:spPr>
          <a:xfrm>
            <a:off x="9287467" y="10003044"/>
            <a:ext cx="1604048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2" name="Embedding…"/>
          <p:cNvSpPr txBox="1"/>
          <p:nvPr/>
        </p:nvSpPr>
        <p:spPr>
          <a:xfrm>
            <a:off x="7144775" y="5903467"/>
            <a:ext cx="4024885" cy="190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Model</a:t>
            </a:r>
          </a:p>
        </p:txBody>
      </p:sp>
      <p:sp>
        <p:nvSpPr>
          <p:cNvPr id="193" name="Vector…"/>
          <p:cNvSpPr/>
          <p:nvPr/>
        </p:nvSpPr>
        <p:spPr>
          <a:xfrm>
            <a:off x="16442827" y="5039160"/>
            <a:ext cx="2411862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Vector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Store</a:t>
            </a:r>
          </a:p>
        </p:txBody>
      </p:sp>
      <p:sp>
        <p:nvSpPr>
          <p:cNvPr id="194" name="Line"/>
          <p:cNvSpPr/>
          <p:nvPr/>
        </p:nvSpPr>
        <p:spPr>
          <a:xfrm flipH="1">
            <a:off x="9676587" y="7547961"/>
            <a:ext cx="6474521" cy="557893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195" name="[-0.1848554  -0.17605719…"/>
          <p:cNvSpPr txBox="1"/>
          <p:nvPr/>
        </p:nvSpPr>
        <p:spPr>
          <a:xfrm>
            <a:off x="8948724" y="3806225"/>
            <a:ext cx="4746118" cy="191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[-0.1848554  -0.17605719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0.18991971  0.4797751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0.04560479  0.00489019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0.0982461  -0.07267588]</a:t>
            </a:r>
          </a:p>
        </p:txBody>
      </p:sp>
      <p:sp>
        <p:nvSpPr>
          <p:cNvPr id="196" name="Line"/>
          <p:cNvSpPr/>
          <p:nvPr/>
        </p:nvSpPr>
        <p:spPr>
          <a:xfrm>
            <a:off x="13808840" y="4927044"/>
            <a:ext cx="2531533" cy="98805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197" name="Relevant Data"/>
          <p:cNvSpPr txBox="1"/>
          <p:nvPr/>
        </p:nvSpPr>
        <p:spPr>
          <a:xfrm>
            <a:off x="11756135" y="8237759"/>
            <a:ext cx="329438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Relevant Data</a:t>
            </a:r>
          </a:p>
        </p:txBody>
      </p:sp>
      <p:sp>
        <p:nvSpPr>
          <p:cNvPr id="198" name="Text Document"/>
          <p:cNvSpPr/>
          <p:nvPr/>
        </p:nvSpPr>
        <p:spPr>
          <a:xfrm>
            <a:off x="16395334" y="10101267"/>
            <a:ext cx="1531313" cy="1983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9" name="Text Document"/>
          <p:cNvSpPr/>
          <p:nvPr/>
        </p:nvSpPr>
        <p:spPr>
          <a:xfrm>
            <a:off x="14636550" y="10101267"/>
            <a:ext cx="1531313" cy="19830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0" name="Vector Indexes"/>
          <p:cNvSpPr txBox="1"/>
          <p:nvPr/>
        </p:nvSpPr>
        <p:spPr>
          <a:xfrm>
            <a:off x="609385" y="202098"/>
            <a:ext cx="909828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Vector Indexes</a:t>
            </a:r>
          </a:p>
        </p:txBody>
      </p:sp>
      <p:sp>
        <p:nvSpPr>
          <p:cNvPr id="201" name="Coins"/>
          <p:cNvSpPr/>
          <p:nvPr/>
        </p:nvSpPr>
        <p:spPr>
          <a:xfrm>
            <a:off x="19226707" y="312828"/>
            <a:ext cx="3539366" cy="35499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1" y="0"/>
                </a:moveTo>
                <a:cubicBezTo>
                  <a:pt x="7949" y="0"/>
                  <a:pt x="5266" y="392"/>
                  <a:pt x="3255" y="1111"/>
                </a:cubicBezTo>
                <a:cubicBezTo>
                  <a:pt x="1360" y="1787"/>
                  <a:pt x="273" y="2685"/>
                  <a:pt x="273" y="3572"/>
                </a:cubicBezTo>
                <a:cubicBezTo>
                  <a:pt x="273" y="4460"/>
                  <a:pt x="1360" y="5360"/>
                  <a:pt x="3255" y="6035"/>
                </a:cubicBezTo>
                <a:cubicBezTo>
                  <a:pt x="5266" y="6749"/>
                  <a:pt x="7949" y="7147"/>
                  <a:pt x="10801" y="7147"/>
                </a:cubicBezTo>
                <a:cubicBezTo>
                  <a:pt x="13652" y="7147"/>
                  <a:pt x="16334" y="6754"/>
                  <a:pt x="18345" y="6035"/>
                </a:cubicBezTo>
                <a:cubicBezTo>
                  <a:pt x="20240" y="5360"/>
                  <a:pt x="21327" y="4460"/>
                  <a:pt x="21327" y="3572"/>
                </a:cubicBezTo>
                <a:cubicBezTo>
                  <a:pt x="21327" y="2685"/>
                  <a:pt x="20240" y="1787"/>
                  <a:pt x="18345" y="1111"/>
                </a:cubicBezTo>
                <a:cubicBezTo>
                  <a:pt x="16334" y="398"/>
                  <a:pt x="13652" y="0"/>
                  <a:pt x="10801" y="0"/>
                </a:cubicBezTo>
                <a:close/>
                <a:moveTo>
                  <a:pt x="12" y="4505"/>
                </a:moveTo>
                <a:lnTo>
                  <a:pt x="12" y="5914"/>
                </a:lnTo>
                <a:cubicBezTo>
                  <a:pt x="12" y="8033"/>
                  <a:pt x="4846" y="9754"/>
                  <a:pt x="10811" y="9754"/>
                </a:cubicBezTo>
                <a:cubicBezTo>
                  <a:pt x="16776" y="9754"/>
                  <a:pt x="21600" y="8039"/>
                  <a:pt x="21600" y="5914"/>
                </a:cubicBezTo>
                <a:lnTo>
                  <a:pt x="21600" y="4505"/>
                </a:lnTo>
                <a:cubicBezTo>
                  <a:pt x="21136" y="5284"/>
                  <a:pt x="20088" y="5991"/>
                  <a:pt x="18531" y="6541"/>
                </a:cubicBezTo>
                <a:cubicBezTo>
                  <a:pt x="16460" y="7276"/>
                  <a:pt x="13718" y="7679"/>
                  <a:pt x="10806" y="7679"/>
                </a:cubicBezTo>
                <a:cubicBezTo>
                  <a:pt x="7894" y="7679"/>
                  <a:pt x="5146" y="7276"/>
                  <a:pt x="3081" y="6541"/>
                </a:cubicBezTo>
                <a:cubicBezTo>
                  <a:pt x="1524" y="5985"/>
                  <a:pt x="476" y="5284"/>
                  <a:pt x="12" y="4505"/>
                </a:cubicBezTo>
                <a:close/>
                <a:moveTo>
                  <a:pt x="0" y="7320"/>
                </a:moveTo>
                <a:lnTo>
                  <a:pt x="0" y="8284"/>
                </a:lnTo>
                <a:cubicBezTo>
                  <a:pt x="0" y="10402"/>
                  <a:pt x="4836" y="12123"/>
                  <a:pt x="10801" y="12123"/>
                </a:cubicBezTo>
                <a:cubicBezTo>
                  <a:pt x="16766" y="12123"/>
                  <a:pt x="21600" y="10408"/>
                  <a:pt x="21600" y="8284"/>
                </a:cubicBezTo>
                <a:lnTo>
                  <a:pt x="21600" y="7320"/>
                </a:lnTo>
                <a:cubicBezTo>
                  <a:pt x="21458" y="7495"/>
                  <a:pt x="21295" y="7664"/>
                  <a:pt x="21098" y="7827"/>
                </a:cubicBezTo>
                <a:cubicBezTo>
                  <a:pt x="20508" y="8329"/>
                  <a:pt x="19672" y="8769"/>
                  <a:pt x="18618" y="9145"/>
                </a:cubicBezTo>
                <a:cubicBezTo>
                  <a:pt x="16520" y="9891"/>
                  <a:pt x="13745" y="10299"/>
                  <a:pt x="10801" y="10299"/>
                </a:cubicBezTo>
                <a:cubicBezTo>
                  <a:pt x="7856" y="10299"/>
                  <a:pt x="5080" y="9891"/>
                  <a:pt x="2982" y="9145"/>
                </a:cubicBezTo>
                <a:cubicBezTo>
                  <a:pt x="1928" y="8769"/>
                  <a:pt x="1099" y="8329"/>
                  <a:pt x="504" y="7827"/>
                </a:cubicBezTo>
                <a:cubicBezTo>
                  <a:pt x="307" y="7664"/>
                  <a:pt x="142" y="7495"/>
                  <a:pt x="0" y="7320"/>
                </a:cubicBezTo>
                <a:close/>
                <a:moveTo>
                  <a:pt x="0" y="9689"/>
                </a:moveTo>
                <a:lnTo>
                  <a:pt x="0" y="10653"/>
                </a:lnTo>
                <a:cubicBezTo>
                  <a:pt x="0" y="12771"/>
                  <a:pt x="4836" y="14492"/>
                  <a:pt x="10801" y="14492"/>
                </a:cubicBezTo>
                <a:cubicBezTo>
                  <a:pt x="16766" y="14492"/>
                  <a:pt x="21600" y="12777"/>
                  <a:pt x="21600" y="10653"/>
                </a:cubicBezTo>
                <a:lnTo>
                  <a:pt x="21600" y="9689"/>
                </a:lnTo>
                <a:cubicBezTo>
                  <a:pt x="21458" y="9864"/>
                  <a:pt x="21295" y="10033"/>
                  <a:pt x="21098" y="10197"/>
                </a:cubicBezTo>
                <a:cubicBezTo>
                  <a:pt x="20508" y="10698"/>
                  <a:pt x="19672" y="11138"/>
                  <a:pt x="18618" y="11514"/>
                </a:cubicBezTo>
                <a:cubicBezTo>
                  <a:pt x="16520" y="12260"/>
                  <a:pt x="13745" y="12668"/>
                  <a:pt x="10801" y="12668"/>
                </a:cubicBezTo>
                <a:cubicBezTo>
                  <a:pt x="7856" y="12668"/>
                  <a:pt x="5080" y="12260"/>
                  <a:pt x="2982" y="11514"/>
                </a:cubicBezTo>
                <a:cubicBezTo>
                  <a:pt x="1928" y="11138"/>
                  <a:pt x="1099" y="10698"/>
                  <a:pt x="504" y="10197"/>
                </a:cubicBezTo>
                <a:cubicBezTo>
                  <a:pt x="307" y="10033"/>
                  <a:pt x="142" y="9864"/>
                  <a:pt x="0" y="9689"/>
                </a:cubicBezTo>
                <a:close/>
                <a:moveTo>
                  <a:pt x="0" y="12059"/>
                </a:moveTo>
                <a:lnTo>
                  <a:pt x="0" y="13022"/>
                </a:lnTo>
                <a:cubicBezTo>
                  <a:pt x="0" y="15141"/>
                  <a:pt x="4836" y="16862"/>
                  <a:pt x="10801" y="16862"/>
                </a:cubicBezTo>
                <a:cubicBezTo>
                  <a:pt x="16766" y="16862"/>
                  <a:pt x="21600" y="15146"/>
                  <a:pt x="21600" y="13022"/>
                </a:cubicBezTo>
                <a:lnTo>
                  <a:pt x="21600" y="12059"/>
                </a:lnTo>
                <a:cubicBezTo>
                  <a:pt x="21458" y="12233"/>
                  <a:pt x="21295" y="12402"/>
                  <a:pt x="21098" y="12566"/>
                </a:cubicBezTo>
                <a:cubicBezTo>
                  <a:pt x="20508" y="13067"/>
                  <a:pt x="19672" y="13507"/>
                  <a:pt x="18618" y="13883"/>
                </a:cubicBezTo>
                <a:cubicBezTo>
                  <a:pt x="16520" y="14629"/>
                  <a:pt x="13745" y="15037"/>
                  <a:pt x="10801" y="15037"/>
                </a:cubicBezTo>
                <a:cubicBezTo>
                  <a:pt x="7856" y="15037"/>
                  <a:pt x="5080" y="14629"/>
                  <a:pt x="2982" y="13883"/>
                </a:cubicBezTo>
                <a:cubicBezTo>
                  <a:pt x="1928" y="13507"/>
                  <a:pt x="1099" y="13067"/>
                  <a:pt x="504" y="12566"/>
                </a:cubicBezTo>
                <a:cubicBezTo>
                  <a:pt x="307" y="12402"/>
                  <a:pt x="142" y="12233"/>
                  <a:pt x="0" y="12059"/>
                </a:cubicBezTo>
                <a:close/>
                <a:moveTo>
                  <a:pt x="0" y="14428"/>
                </a:moveTo>
                <a:lnTo>
                  <a:pt x="0" y="15391"/>
                </a:lnTo>
                <a:cubicBezTo>
                  <a:pt x="0" y="17510"/>
                  <a:pt x="4836" y="19231"/>
                  <a:pt x="10801" y="19231"/>
                </a:cubicBezTo>
                <a:cubicBezTo>
                  <a:pt x="16766" y="19231"/>
                  <a:pt x="21600" y="17515"/>
                  <a:pt x="21600" y="15391"/>
                </a:cubicBezTo>
                <a:lnTo>
                  <a:pt x="21600" y="14428"/>
                </a:lnTo>
                <a:cubicBezTo>
                  <a:pt x="21458" y="14602"/>
                  <a:pt x="21295" y="14772"/>
                  <a:pt x="21098" y="14935"/>
                </a:cubicBezTo>
                <a:cubicBezTo>
                  <a:pt x="20508" y="15436"/>
                  <a:pt x="19672" y="15877"/>
                  <a:pt x="18618" y="16252"/>
                </a:cubicBezTo>
                <a:cubicBezTo>
                  <a:pt x="16520" y="16998"/>
                  <a:pt x="13745" y="17406"/>
                  <a:pt x="10801" y="17406"/>
                </a:cubicBezTo>
                <a:cubicBezTo>
                  <a:pt x="7856" y="17406"/>
                  <a:pt x="5080" y="16998"/>
                  <a:pt x="2982" y="16252"/>
                </a:cubicBezTo>
                <a:cubicBezTo>
                  <a:pt x="1928" y="15877"/>
                  <a:pt x="1099" y="15436"/>
                  <a:pt x="504" y="14935"/>
                </a:cubicBezTo>
                <a:cubicBezTo>
                  <a:pt x="307" y="14772"/>
                  <a:pt x="142" y="14602"/>
                  <a:pt x="0" y="14428"/>
                </a:cubicBezTo>
                <a:close/>
                <a:moveTo>
                  <a:pt x="0" y="16797"/>
                </a:moveTo>
                <a:lnTo>
                  <a:pt x="0" y="17760"/>
                </a:lnTo>
                <a:cubicBezTo>
                  <a:pt x="0" y="19879"/>
                  <a:pt x="4836" y="21600"/>
                  <a:pt x="10801" y="21600"/>
                </a:cubicBezTo>
                <a:cubicBezTo>
                  <a:pt x="16766" y="21600"/>
                  <a:pt x="21600" y="19879"/>
                  <a:pt x="21600" y="17760"/>
                </a:cubicBezTo>
                <a:lnTo>
                  <a:pt x="21600" y="16797"/>
                </a:lnTo>
                <a:cubicBezTo>
                  <a:pt x="21458" y="16971"/>
                  <a:pt x="21295" y="17141"/>
                  <a:pt x="21098" y="17304"/>
                </a:cubicBezTo>
                <a:cubicBezTo>
                  <a:pt x="20508" y="17805"/>
                  <a:pt x="19672" y="18246"/>
                  <a:pt x="18618" y="18622"/>
                </a:cubicBezTo>
                <a:cubicBezTo>
                  <a:pt x="16520" y="19368"/>
                  <a:pt x="13745" y="19775"/>
                  <a:pt x="10801" y="19775"/>
                </a:cubicBezTo>
                <a:cubicBezTo>
                  <a:pt x="7856" y="19775"/>
                  <a:pt x="5080" y="19368"/>
                  <a:pt x="2982" y="18622"/>
                </a:cubicBezTo>
                <a:cubicBezTo>
                  <a:pt x="1928" y="18246"/>
                  <a:pt x="1099" y="17805"/>
                  <a:pt x="504" y="17304"/>
                </a:cubicBezTo>
                <a:cubicBezTo>
                  <a:pt x="307" y="17141"/>
                  <a:pt x="142" y="16971"/>
                  <a:pt x="0" y="16797"/>
                </a:cubicBezTo>
                <a:close/>
              </a:path>
            </a:pathLst>
          </a:custGeom>
          <a:solidFill>
            <a:schemeClr val="accent4">
              <a:hueOff val="-476017"/>
              <a:lumOff val="-1004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aphicFrame>
        <p:nvGraphicFramePr>
          <p:cNvPr id="202" name="Table 1"/>
          <p:cNvGraphicFramePr/>
          <p:nvPr/>
        </p:nvGraphicFramePr>
        <p:xfrm>
          <a:off x="16239866" y="1133293"/>
          <a:ext cx="2807716" cy="192176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{C7B018BB-80A7-4F77-B60F-C8B233D01FF8}</a:tableStyleId>
              </a:tblPr>
              <a:tblGrid>
                <a:gridCol w="698753"/>
                <a:gridCol w="698753"/>
                <a:gridCol w="698753"/>
                <a:gridCol w="698753"/>
              </a:tblGrid>
              <a:tr h="381812"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</a:tcPr>
                </a:tc>
              </a:tr>
              <a:tr h="381812"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381812"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381812"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</a:tcPr>
                </a:tc>
              </a:tr>
              <a:tr h="381812"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1" sz="3200"/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03" name="Vectorization"/>
          <p:cNvSpPr txBox="1"/>
          <p:nvPr/>
        </p:nvSpPr>
        <p:spPr>
          <a:xfrm>
            <a:off x="1027311" y="5356166"/>
            <a:ext cx="4869181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Vectorization</a:t>
            </a:r>
          </a:p>
        </p:txBody>
      </p:sp>
      <p:pic>
        <p:nvPicPr>
          <p:cNvPr id="204" name="DS.jpg" descr="DS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57142" y="5612107"/>
            <a:ext cx="3183988" cy="31839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Retrieval"/>
          <p:cNvSpPr txBox="1"/>
          <p:nvPr/>
        </p:nvSpPr>
        <p:spPr>
          <a:xfrm>
            <a:off x="5287654" y="7703223"/>
            <a:ext cx="3330703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Retrieval</a:t>
            </a:r>
          </a:p>
        </p:txBody>
      </p:sp>
      <p:sp>
        <p:nvSpPr>
          <p:cNvPr id="206" name="Fast"/>
          <p:cNvSpPr txBox="1"/>
          <p:nvPr/>
        </p:nvSpPr>
        <p:spPr>
          <a:xfrm>
            <a:off x="5222240" y="9902670"/>
            <a:ext cx="1680973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Fast</a:t>
            </a:r>
          </a:p>
        </p:txBody>
      </p:sp>
      <p:sp>
        <p:nvSpPr>
          <p:cNvPr id="207" name="Efficient"/>
          <p:cNvSpPr txBox="1"/>
          <p:nvPr/>
        </p:nvSpPr>
        <p:spPr>
          <a:xfrm>
            <a:off x="5157343" y="10930520"/>
            <a:ext cx="3080767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Efficient</a:t>
            </a:r>
          </a:p>
        </p:txBody>
      </p:sp>
      <p:sp>
        <p:nvSpPr>
          <p:cNvPr id="208" name="Build"/>
          <p:cNvSpPr txBox="1"/>
          <p:nvPr/>
        </p:nvSpPr>
        <p:spPr>
          <a:xfrm>
            <a:off x="19568442" y="9191470"/>
            <a:ext cx="1961389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Build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32" presetID="4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1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6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4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5" grpId="6"/>
      <p:bldP build="whole" bldLvl="1" animBg="1" rev="0" advAuto="0" spid="197" grpId="12"/>
      <p:bldP build="whole" bldLvl="1" animBg="1" rev="0" advAuto="0" spid="198" grpId="17"/>
      <p:bldP build="whole" bldLvl="1" animBg="1" rev="0" advAuto="0" spid="194" grpId="11"/>
      <p:bldP build="whole" bldLvl="1" animBg="1" rev="0" advAuto="0" spid="200" grpId="1"/>
      <p:bldP build="whole" bldLvl="1" animBg="1" rev="0" advAuto="0" spid="202" grpId="3"/>
      <p:bldP build="whole" bldLvl="1" animBg="1" rev="0" advAuto="0" spid="192" grpId="5"/>
      <p:bldP build="whole" bldLvl="1" animBg="1" rev="0" advAuto="0" spid="190" grpId="15"/>
      <p:bldP build="whole" bldLvl="1" animBg="1" rev="0" advAuto="0" spid="191" grpId="13"/>
      <p:bldP build="whole" bldLvl="1" animBg="1" rev="0" advAuto="0" spid="205" grpId="10"/>
      <p:bldP build="whole" bldLvl="1" animBg="1" rev="0" advAuto="0" spid="199" grpId="16"/>
      <p:bldP build="whole" bldLvl="1" animBg="1" rev="0" advAuto="0" spid="203" grpId="4"/>
      <p:bldP build="whole" bldLvl="1" animBg="1" rev="0" advAuto="0" spid="201" grpId="2"/>
      <p:bldP build="whole" bldLvl="1" animBg="1" rev="0" advAuto="0" spid="193" grpId="8"/>
      <p:bldP build="whole" bldLvl="1" animBg="1" rev="0" advAuto="0" spid="196" grpId="7"/>
      <p:bldP build="whole" bldLvl="1" animBg="1" rev="0" advAuto="0" spid="208" grpId="20"/>
      <p:bldP build="whole" bldLvl="1" animBg="1" rev="0" advAuto="0" spid="189" grpId="14"/>
      <p:bldP build="whole" bldLvl="1" animBg="1" rev="0" advAuto="0" spid="206" grpId="18"/>
      <p:bldP build="whole" bldLvl="1" animBg="1" rev="0" advAuto="0" spid="204" grpId="9"/>
      <p:bldP build="whole" bldLvl="1" animBg="1" rev="0" advAuto="0" spid="207" grpId="19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GVector"/>
          <p:cNvSpPr txBox="1"/>
          <p:nvPr/>
        </p:nvSpPr>
        <p:spPr>
          <a:xfrm>
            <a:off x="527529" y="475642"/>
            <a:ext cx="583057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PGVector</a:t>
            </a:r>
          </a:p>
        </p:txBody>
      </p:sp>
      <p:sp>
        <p:nvSpPr>
          <p:cNvPr id="211" name="IVFFlat"/>
          <p:cNvSpPr txBox="1"/>
          <p:nvPr/>
        </p:nvSpPr>
        <p:spPr>
          <a:xfrm>
            <a:off x="1018025" y="3953246"/>
            <a:ext cx="404114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IVFFlat</a:t>
            </a:r>
          </a:p>
        </p:txBody>
      </p:sp>
      <p:sp>
        <p:nvSpPr>
          <p:cNvPr id="212" name="HNSW"/>
          <p:cNvSpPr txBox="1"/>
          <p:nvPr/>
        </p:nvSpPr>
        <p:spPr>
          <a:xfrm>
            <a:off x="1065015" y="7025728"/>
            <a:ext cx="3947161" cy="1577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HNSW</a:t>
            </a:r>
          </a:p>
        </p:txBody>
      </p:sp>
      <p:sp>
        <p:nvSpPr>
          <p:cNvPr id="213" name="Inverted File Flat"/>
          <p:cNvSpPr txBox="1"/>
          <p:nvPr/>
        </p:nvSpPr>
        <p:spPr>
          <a:xfrm>
            <a:off x="6685536" y="4102090"/>
            <a:ext cx="7621525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Inverted File Flat</a:t>
            </a:r>
          </a:p>
        </p:txBody>
      </p:sp>
      <p:sp>
        <p:nvSpPr>
          <p:cNvPr id="214" name="Hierarchical Navigable Small World"/>
          <p:cNvSpPr txBox="1"/>
          <p:nvPr/>
        </p:nvSpPr>
        <p:spPr>
          <a:xfrm>
            <a:off x="6671357" y="7174572"/>
            <a:ext cx="15992349" cy="127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Hierarchical Navigable Small World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3" grpId="4"/>
      <p:bldP build="whole" bldLvl="1" animBg="1" rev="0" advAuto="0" spid="214" grpId="5"/>
      <p:bldP build="whole" bldLvl="1" animBg="1" rev="0" advAuto="0" spid="211" grpId="2"/>
      <p:bldP build="whole" bldLvl="1" animBg="1" rev="0" advAuto="0" spid="210" grpId="1"/>
      <p:bldP build="whole" bldLvl="1" animBg="1" rev="0" advAuto="0" spid="212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Memory-Constrained"/>
          <p:cNvSpPr txBox="1"/>
          <p:nvPr/>
        </p:nvSpPr>
        <p:spPr>
          <a:xfrm>
            <a:off x="884188" y="2141072"/>
            <a:ext cx="12181841" cy="308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Memory-Constrained</a:t>
            </a:r>
          </a:p>
        </p:txBody>
      </p:sp>
      <p:sp>
        <p:nvSpPr>
          <p:cNvPr id="217" name="Fast Builds"/>
          <p:cNvSpPr txBox="1"/>
          <p:nvPr/>
        </p:nvSpPr>
        <p:spPr>
          <a:xfrm>
            <a:off x="1025723" y="4494200"/>
            <a:ext cx="6441441" cy="308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Fast Builds</a:t>
            </a:r>
          </a:p>
        </p:txBody>
      </p:sp>
      <p:sp>
        <p:nvSpPr>
          <p:cNvPr id="218" name="Trade Accuracy"/>
          <p:cNvSpPr txBox="1"/>
          <p:nvPr/>
        </p:nvSpPr>
        <p:spPr>
          <a:xfrm>
            <a:off x="849006" y="6944183"/>
            <a:ext cx="8934451" cy="308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Trade Accuracy</a:t>
            </a:r>
          </a:p>
        </p:txBody>
      </p:sp>
      <p:sp>
        <p:nvSpPr>
          <p:cNvPr id="219" name="Temp or Experimental"/>
          <p:cNvSpPr txBox="1"/>
          <p:nvPr/>
        </p:nvSpPr>
        <p:spPr>
          <a:xfrm>
            <a:off x="731153" y="9291389"/>
            <a:ext cx="12487911" cy="308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Temp or Experimental</a:t>
            </a:r>
          </a:p>
        </p:txBody>
      </p:sp>
      <p:pic>
        <p:nvPicPr>
          <p:cNvPr id="220" name="ivfflat.jpg" descr="ivfflat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513411" y="-39415"/>
            <a:ext cx="5587211" cy="7449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Library.jpg" descr="Library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92784" y="7392327"/>
            <a:ext cx="4028465" cy="60426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7" grpId="4"/>
      <p:bldP build="whole" bldLvl="1" animBg="1" rev="0" advAuto="0" spid="219" grpId="6"/>
      <p:bldP build="whole" bldLvl="1" animBg="1" rev="0" advAuto="0" spid="221" grpId="2"/>
      <p:bldP build="whole" bldLvl="1" animBg="1" rev="0" advAuto="0" spid="218" grpId="5"/>
      <p:bldP build="whole" bldLvl="1" animBg="1" rev="0" advAuto="0" spid="216" grpId="3"/>
      <p:bldP build="whole" bldLvl="1" animBg="1" rev="0" advAuto="0" spid="22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Best Recall"/>
          <p:cNvSpPr txBox="1"/>
          <p:nvPr/>
        </p:nvSpPr>
        <p:spPr>
          <a:xfrm>
            <a:off x="2582723" y="1993075"/>
            <a:ext cx="6534151" cy="308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Best Recall</a:t>
            </a:r>
          </a:p>
        </p:txBody>
      </p:sp>
      <p:sp>
        <p:nvSpPr>
          <p:cNvPr id="224" name="Fast Queries"/>
          <p:cNvSpPr txBox="1"/>
          <p:nvPr/>
        </p:nvSpPr>
        <p:spPr>
          <a:xfrm>
            <a:off x="2531818" y="4237895"/>
            <a:ext cx="7288531" cy="308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Fast Queries</a:t>
            </a:r>
          </a:p>
        </p:txBody>
      </p:sp>
      <p:sp>
        <p:nvSpPr>
          <p:cNvPr id="225" name="Production Scale"/>
          <p:cNvSpPr txBox="1"/>
          <p:nvPr/>
        </p:nvSpPr>
        <p:spPr>
          <a:xfrm>
            <a:off x="2573195" y="6600094"/>
            <a:ext cx="9828531" cy="308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Production Scale</a:t>
            </a:r>
          </a:p>
        </p:txBody>
      </p:sp>
      <p:sp>
        <p:nvSpPr>
          <p:cNvPr id="226" name="HNSW"/>
          <p:cNvSpPr txBox="1"/>
          <p:nvPr/>
        </p:nvSpPr>
        <p:spPr>
          <a:xfrm>
            <a:off x="17073998" y="88075"/>
            <a:ext cx="3947161" cy="308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HNSW</a:t>
            </a:r>
          </a:p>
        </p:txBody>
      </p:sp>
      <p:pic>
        <p:nvPicPr>
          <p:cNvPr id="227" name="HNSW.jpg" descr="HNSW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441007" y="1756122"/>
            <a:ext cx="7213143" cy="108197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7" grpId="2"/>
      <p:bldP build="whole" bldLvl="1" animBg="1" rev="0" advAuto="0" spid="224" grpId="4"/>
      <p:bldP build="whole" bldLvl="1" animBg="1" rev="0" advAuto="0" spid="225" grpId="5"/>
      <p:bldP build="whole" bldLvl="1" animBg="1" rev="0" advAuto="0" spid="226" grpId="1"/>
      <p:bldP build="whole" bldLvl="1" animBg="1" rev="0" advAuto="0" spid="223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rompt"/>
          <p:cNvSpPr txBox="1"/>
          <p:nvPr/>
        </p:nvSpPr>
        <p:spPr>
          <a:xfrm>
            <a:off x="2987084" y="3527740"/>
            <a:ext cx="2795017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30" name="Text Document"/>
          <p:cNvSpPr/>
          <p:nvPr/>
        </p:nvSpPr>
        <p:spPr>
          <a:xfrm>
            <a:off x="14483151" y="6389353"/>
            <a:ext cx="1604049" cy="2077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1" name="Text Document"/>
          <p:cNvSpPr/>
          <p:nvPr/>
        </p:nvSpPr>
        <p:spPr>
          <a:xfrm>
            <a:off x="16278302" y="648757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2" name="Text Document"/>
          <p:cNvSpPr/>
          <p:nvPr/>
        </p:nvSpPr>
        <p:spPr>
          <a:xfrm>
            <a:off x="12688001" y="6389353"/>
            <a:ext cx="1604049" cy="2077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Line"/>
          <p:cNvSpPr/>
          <p:nvPr/>
        </p:nvSpPr>
        <p:spPr>
          <a:xfrm>
            <a:off x="6002774" y="4037388"/>
            <a:ext cx="3011595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34" name="Embedding…"/>
          <p:cNvSpPr txBox="1"/>
          <p:nvPr/>
        </p:nvSpPr>
        <p:spPr>
          <a:xfrm>
            <a:off x="9578935" y="3443411"/>
            <a:ext cx="4024885" cy="190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Model</a:t>
            </a:r>
          </a:p>
        </p:txBody>
      </p:sp>
      <p:sp>
        <p:nvSpPr>
          <p:cNvPr id="235" name="Vector…"/>
          <p:cNvSpPr/>
          <p:nvPr/>
        </p:nvSpPr>
        <p:spPr>
          <a:xfrm>
            <a:off x="19593903" y="1869489"/>
            <a:ext cx="2411862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Vector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Store</a:t>
            </a:r>
          </a:p>
        </p:txBody>
      </p:sp>
      <p:sp>
        <p:nvSpPr>
          <p:cNvPr id="236" name="Line"/>
          <p:cNvSpPr/>
          <p:nvPr/>
        </p:nvSpPr>
        <p:spPr>
          <a:xfrm flipH="1">
            <a:off x="12827664" y="4378291"/>
            <a:ext cx="6474521" cy="55789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37" name="[-0.1848554  -0.17605719…"/>
          <p:cNvSpPr txBox="1"/>
          <p:nvPr/>
        </p:nvSpPr>
        <p:spPr>
          <a:xfrm>
            <a:off x="12099800" y="1170522"/>
            <a:ext cx="4746118" cy="191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[-0.1848554  -0.17605719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0.18991971  0.4797751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0.04560479  0.00489019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0.0982461  -0.07267588]</a:t>
            </a:r>
          </a:p>
        </p:txBody>
      </p:sp>
      <p:sp>
        <p:nvSpPr>
          <p:cNvPr id="238" name="Line"/>
          <p:cNvSpPr/>
          <p:nvPr/>
        </p:nvSpPr>
        <p:spPr>
          <a:xfrm>
            <a:off x="16959916" y="1757373"/>
            <a:ext cx="2531533" cy="98805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39" name="Prompt"/>
          <p:cNvSpPr txBox="1"/>
          <p:nvPr/>
        </p:nvSpPr>
        <p:spPr>
          <a:xfrm>
            <a:off x="8245675" y="6360667"/>
            <a:ext cx="2627377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40" name="+"/>
          <p:cNvSpPr txBox="1"/>
          <p:nvPr/>
        </p:nvSpPr>
        <p:spPr>
          <a:xfrm>
            <a:off x="9273613" y="7116097"/>
            <a:ext cx="571501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41" name="Relevant…"/>
          <p:cNvSpPr txBox="1"/>
          <p:nvPr/>
        </p:nvSpPr>
        <p:spPr>
          <a:xfrm>
            <a:off x="8283590" y="7975182"/>
            <a:ext cx="3077719" cy="190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Relevant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Data</a:t>
            </a:r>
          </a:p>
        </p:txBody>
      </p:sp>
      <p:sp>
        <p:nvSpPr>
          <p:cNvPr id="242" name="Line"/>
          <p:cNvSpPr/>
          <p:nvPr/>
        </p:nvSpPr>
        <p:spPr>
          <a:xfrm>
            <a:off x="9708475" y="9899016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43" name="LLM"/>
          <p:cNvSpPr/>
          <p:nvPr/>
        </p:nvSpPr>
        <p:spPr>
          <a:xfrm>
            <a:off x="8541496" y="11057453"/>
            <a:ext cx="3011595" cy="1488024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244" name="Line"/>
          <p:cNvSpPr/>
          <p:nvPr/>
        </p:nvSpPr>
        <p:spPr>
          <a:xfrm flipH="1" flipV="1">
            <a:off x="2899535" y="4835553"/>
            <a:ext cx="5350846" cy="695443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45" name="Computer"/>
          <p:cNvSpPr/>
          <p:nvPr/>
        </p:nvSpPr>
        <p:spPr>
          <a:xfrm>
            <a:off x="1009588" y="3326046"/>
            <a:ext cx="1762968" cy="1422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6" name="Caching"/>
          <p:cNvSpPr txBox="1"/>
          <p:nvPr/>
        </p:nvSpPr>
        <p:spPr>
          <a:xfrm>
            <a:off x="181067" y="340545"/>
            <a:ext cx="512318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Caching</a:t>
            </a:r>
          </a:p>
        </p:txBody>
      </p:sp>
      <p:sp>
        <p:nvSpPr>
          <p:cNvPr id="247" name="Relevant Data"/>
          <p:cNvSpPr txBox="1"/>
          <p:nvPr/>
        </p:nvSpPr>
        <p:spPr>
          <a:xfrm>
            <a:off x="14907211" y="5068089"/>
            <a:ext cx="3294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Relevant Data</a:t>
            </a:r>
          </a:p>
        </p:txBody>
      </p:sp>
      <p:sp>
        <p:nvSpPr>
          <p:cNvPr id="248" name="Response"/>
          <p:cNvSpPr txBox="1"/>
          <p:nvPr/>
        </p:nvSpPr>
        <p:spPr>
          <a:xfrm>
            <a:off x="1851944" y="8432382"/>
            <a:ext cx="352958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249" name="Text Document"/>
          <p:cNvSpPr/>
          <p:nvPr/>
        </p:nvSpPr>
        <p:spPr>
          <a:xfrm>
            <a:off x="19795867" y="648757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0" name="Text Document"/>
          <p:cNvSpPr/>
          <p:nvPr/>
        </p:nvSpPr>
        <p:spPr>
          <a:xfrm>
            <a:off x="18037085" y="6487576"/>
            <a:ext cx="1531313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1" name="Cache…"/>
          <p:cNvSpPr/>
          <p:nvPr/>
        </p:nvSpPr>
        <p:spPr>
          <a:xfrm>
            <a:off x="18504352" y="9508692"/>
            <a:ext cx="2411863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Cache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DB</a:t>
            </a:r>
          </a:p>
        </p:txBody>
      </p:sp>
      <p:sp>
        <p:nvSpPr>
          <p:cNvPr id="252" name="Line"/>
          <p:cNvSpPr/>
          <p:nvPr/>
        </p:nvSpPr>
        <p:spPr>
          <a:xfrm>
            <a:off x="12362551" y="9538844"/>
            <a:ext cx="5717864" cy="90427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53" name="}"/>
          <p:cNvSpPr txBox="1"/>
          <p:nvPr/>
        </p:nvSpPr>
        <p:spPr>
          <a:xfrm>
            <a:off x="10983284" y="5231129"/>
            <a:ext cx="1594486" cy="5285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0"/>
            </a:lvl1pPr>
          </a:lstStyle>
          <a:p>
            <a:pPr/>
            <a:r>
              <a:t>}</a:t>
            </a:r>
          </a:p>
        </p:txBody>
      </p:sp>
      <p:sp>
        <p:nvSpPr>
          <p:cNvPr id="254" name="Cached"/>
          <p:cNvSpPr txBox="1"/>
          <p:nvPr/>
        </p:nvSpPr>
        <p:spPr>
          <a:xfrm>
            <a:off x="14599482" y="9193117"/>
            <a:ext cx="1883157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Cached</a:t>
            </a:r>
          </a:p>
        </p:txBody>
      </p:sp>
      <p:sp>
        <p:nvSpPr>
          <p:cNvPr id="255" name="+"/>
          <p:cNvSpPr txBox="1"/>
          <p:nvPr/>
        </p:nvSpPr>
        <p:spPr>
          <a:xfrm>
            <a:off x="6309197" y="7952317"/>
            <a:ext cx="72390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8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56" name="Semantic"/>
          <p:cNvSpPr txBox="1"/>
          <p:nvPr/>
        </p:nvSpPr>
        <p:spPr>
          <a:xfrm>
            <a:off x="13347639" y="10323047"/>
            <a:ext cx="225044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Semantic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5" grpId="6"/>
      <p:bldP build="whole" bldLvl="1" animBg="1" rev="0" advAuto="0" spid="241" grpId="17"/>
      <p:bldP build="whole" bldLvl="1" animBg="1" rev="0" advAuto="0" spid="248" grpId="21"/>
      <p:bldP build="whole" bldLvl="1" animBg="1" rev="0" advAuto="0" spid="243" grpId="19"/>
      <p:bldP build="whole" bldLvl="1" animBg="1" rev="0" advAuto="0" spid="253" grpId="23"/>
      <p:bldP build="whole" bldLvl="1" animBg="1" rev="0" advAuto="0" spid="234" grpId="4"/>
      <p:bldP build="whole" bldLvl="1" animBg="1" rev="0" advAuto="0" spid="247" grpId="9"/>
      <p:bldP build="whole" bldLvl="1" animBg="1" rev="0" advAuto="0" spid="232" grpId="10"/>
      <p:bldP build="whole" bldLvl="1" animBg="1" rev="0" advAuto="0" spid="239" grpId="15"/>
      <p:bldP build="whole" bldLvl="1" animBg="1" rev="0" advAuto="0" spid="236" grpId="8"/>
      <p:bldP build="whole" bldLvl="1" animBg="1" rev="0" advAuto="0" spid="237" grpId="5"/>
      <p:bldP build="whole" bldLvl="1" animBg="1" rev="0" advAuto="0" spid="238" grpId="7"/>
      <p:bldP build="whole" bldLvl="1" animBg="1" rev="0" advAuto="0" spid="233" grpId="3"/>
      <p:bldP build="whole" bldLvl="1" animBg="1" rev="0" advAuto="0" spid="252" grpId="26"/>
      <p:bldP build="whole" bldLvl="1" animBg="1" rev="0" advAuto="0" spid="256" grpId="28"/>
      <p:bldP build="whole" bldLvl="1" animBg="1" rev="0" advAuto="0" spid="240" grpId="16"/>
      <p:bldP build="whole" bldLvl="1" animBg="1" rev="0" advAuto="0" spid="231" grpId="12"/>
      <p:bldP build="whole" bldLvl="1" animBg="1" rev="0" advAuto="0" spid="246" grpId="22"/>
      <p:bldP build="whole" bldLvl="1" animBg="1" rev="0" advAuto="0" spid="250" grpId="13"/>
      <p:bldP build="whole" bldLvl="1" animBg="1" rev="0" advAuto="0" spid="251" grpId="25"/>
      <p:bldP build="whole" bldLvl="1" animBg="1" rev="0" advAuto="0" spid="242" grpId="18"/>
      <p:bldP build="whole" bldLvl="1" animBg="1" rev="0" advAuto="0" spid="245" grpId="1"/>
      <p:bldP build="whole" bldLvl="1" animBg="1" rev="0" advAuto="0" spid="249" grpId="14"/>
      <p:bldP build="whole" bldLvl="1" animBg="1" rev="0" advAuto="0" spid="244" grpId="20"/>
      <p:bldP build="whole" bldLvl="1" animBg="1" rev="0" advAuto="0" spid="229" grpId="2"/>
      <p:bldP build="whole" bldLvl="1" animBg="1" rev="0" advAuto="0" spid="255" grpId="24"/>
      <p:bldP build="whole" bldLvl="1" animBg="1" rev="0" advAuto="0" spid="230" grpId="11"/>
      <p:bldP build="whole" bldLvl="1" animBg="1" rev="0" advAuto="0" spid="254" grpId="27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rompt"/>
          <p:cNvSpPr txBox="1"/>
          <p:nvPr/>
        </p:nvSpPr>
        <p:spPr>
          <a:xfrm>
            <a:off x="2987084" y="3527740"/>
            <a:ext cx="2795017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59" name="Text Document"/>
          <p:cNvSpPr/>
          <p:nvPr/>
        </p:nvSpPr>
        <p:spPr>
          <a:xfrm>
            <a:off x="14483151" y="6389353"/>
            <a:ext cx="1604049" cy="2077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0" name="Text Document"/>
          <p:cNvSpPr/>
          <p:nvPr/>
        </p:nvSpPr>
        <p:spPr>
          <a:xfrm>
            <a:off x="16278302" y="648757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1" name="Text Document"/>
          <p:cNvSpPr/>
          <p:nvPr/>
        </p:nvSpPr>
        <p:spPr>
          <a:xfrm>
            <a:off x="12688001" y="6389353"/>
            <a:ext cx="1604049" cy="2077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2" name="Line"/>
          <p:cNvSpPr/>
          <p:nvPr/>
        </p:nvSpPr>
        <p:spPr>
          <a:xfrm>
            <a:off x="6002774" y="4037388"/>
            <a:ext cx="3011595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63" name="Embedding…"/>
          <p:cNvSpPr txBox="1"/>
          <p:nvPr/>
        </p:nvSpPr>
        <p:spPr>
          <a:xfrm>
            <a:off x="9578935" y="3443411"/>
            <a:ext cx="4024885" cy="190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Model</a:t>
            </a:r>
          </a:p>
        </p:txBody>
      </p:sp>
      <p:sp>
        <p:nvSpPr>
          <p:cNvPr id="264" name="Vector…"/>
          <p:cNvSpPr/>
          <p:nvPr/>
        </p:nvSpPr>
        <p:spPr>
          <a:xfrm>
            <a:off x="19593903" y="1869489"/>
            <a:ext cx="2411862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Vector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Store</a:t>
            </a:r>
          </a:p>
        </p:txBody>
      </p:sp>
      <p:sp>
        <p:nvSpPr>
          <p:cNvPr id="265" name="Line"/>
          <p:cNvSpPr/>
          <p:nvPr/>
        </p:nvSpPr>
        <p:spPr>
          <a:xfrm flipH="1">
            <a:off x="12827664" y="4378291"/>
            <a:ext cx="6474521" cy="55789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66" name="[-0.1848554  -0.17605719…"/>
          <p:cNvSpPr txBox="1"/>
          <p:nvPr/>
        </p:nvSpPr>
        <p:spPr>
          <a:xfrm>
            <a:off x="12099800" y="1170522"/>
            <a:ext cx="4746118" cy="191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[-0.1848554  -0.17605719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0.18991971  0.4797751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0.04560479  0.00489019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0.0982461  -0.07267588]</a:t>
            </a:r>
          </a:p>
        </p:txBody>
      </p:sp>
      <p:sp>
        <p:nvSpPr>
          <p:cNvPr id="267" name="Line"/>
          <p:cNvSpPr/>
          <p:nvPr/>
        </p:nvSpPr>
        <p:spPr>
          <a:xfrm>
            <a:off x="16959916" y="1757373"/>
            <a:ext cx="2531533" cy="98805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68" name="Prompt"/>
          <p:cNvSpPr txBox="1"/>
          <p:nvPr/>
        </p:nvSpPr>
        <p:spPr>
          <a:xfrm>
            <a:off x="8245675" y="6360667"/>
            <a:ext cx="2627377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69" name="+"/>
          <p:cNvSpPr txBox="1"/>
          <p:nvPr/>
        </p:nvSpPr>
        <p:spPr>
          <a:xfrm>
            <a:off x="9273613" y="7116097"/>
            <a:ext cx="571501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70" name="Relevant…"/>
          <p:cNvSpPr txBox="1"/>
          <p:nvPr/>
        </p:nvSpPr>
        <p:spPr>
          <a:xfrm>
            <a:off x="8283590" y="7975182"/>
            <a:ext cx="3077719" cy="190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Relevant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Data</a:t>
            </a:r>
          </a:p>
        </p:txBody>
      </p:sp>
      <p:sp>
        <p:nvSpPr>
          <p:cNvPr id="271" name="Computer"/>
          <p:cNvSpPr/>
          <p:nvPr/>
        </p:nvSpPr>
        <p:spPr>
          <a:xfrm>
            <a:off x="1009588" y="3326046"/>
            <a:ext cx="1762968" cy="1422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Relevant Data"/>
          <p:cNvSpPr txBox="1"/>
          <p:nvPr/>
        </p:nvSpPr>
        <p:spPr>
          <a:xfrm>
            <a:off x="14907211" y="5068089"/>
            <a:ext cx="3294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Relevant Data</a:t>
            </a:r>
          </a:p>
        </p:txBody>
      </p:sp>
      <p:sp>
        <p:nvSpPr>
          <p:cNvPr id="273" name="Text Document"/>
          <p:cNvSpPr/>
          <p:nvPr/>
        </p:nvSpPr>
        <p:spPr>
          <a:xfrm>
            <a:off x="19795867" y="648757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4" name="Text Document"/>
          <p:cNvSpPr/>
          <p:nvPr/>
        </p:nvSpPr>
        <p:spPr>
          <a:xfrm>
            <a:off x="18037085" y="6487576"/>
            <a:ext cx="1531313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5" name="Cache…"/>
          <p:cNvSpPr/>
          <p:nvPr/>
        </p:nvSpPr>
        <p:spPr>
          <a:xfrm>
            <a:off x="18504352" y="9508692"/>
            <a:ext cx="2411863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Cache</a:t>
            </a:r>
          </a:p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DB</a:t>
            </a:r>
          </a:p>
        </p:txBody>
      </p:sp>
      <p:sp>
        <p:nvSpPr>
          <p:cNvPr id="276" name="}"/>
          <p:cNvSpPr txBox="1"/>
          <p:nvPr/>
        </p:nvSpPr>
        <p:spPr>
          <a:xfrm>
            <a:off x="10983284" y="5231129"/>
            <a:ext cx="1594486" cy="5285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5000"/>
            </a:lvl1pPr>
          </a:lstStyle>
          <a:p>
            <a:pPr/>
            <a:r>
              <a:t>}</a:t>
            </a:r>
          </a:p>
        </p:txBody>
      </p:sp>
      <p:sp>
        <p:nvSpPr>
          <p:cNvPr id="277" name="Line"/>
          <p:cNvSpPr/>
          <p:nvPr/>
        </p:nvSpPr>
        <p:spPr>
          <a:xfrm flipH="1" flipV="1">
            <a:off x="3364747" y="4900338"/>
            <a:ext cx="4287117" cy="204798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78" name="Cached Response"/>
          <p:cNvSpPr txBox="1"/>
          <p:nvPr/>
        </p:nvSpPr>
        <p:spPr>
          <a:xfrm>
            <a:off x="2882946" y="6509511"/>
            <a:ext cx="4301237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Cached Response</a:t>
            </a:r>
          </a:p>
        </p:txBody>
      </p:sp>
      <p:sp>
        <p:nvSpPr>
          <p:cNvPr id="279" name="Line"/>
          <p:cNvSpPr/>
          <p:nvPr/>
        </p:nvSpPr>
        <p:spPr>
          <a:xfrm>
            <a:off x="12558233" y="9946540"/>
            <a:ext cx="5717864" cy="904280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80" name="Semantic"/>
          <p:cNvSpPr txBox="1"/>
          <p:nvPr/>
        </p:nvSpPr>
        <p:spPr>
          <a:xfrm>
            <a:off x="13562092" y="10752197"/>
            <a:ext cx="2250441" cy="69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Semantic</a:t>
            </a:r>
          </a:p>
        </p:txBody>
      </p:sp>
      <p:sp>
        <p:nvSpPr>
          <p:cNvPr id="281" name="REDIS"/>
          <p:cNvSpPr txBox="1"/>
          <p:nvPr/>
        </p:nvSpPr>
        <p:spPr>
          <a:xfrm>
            <a:off x="21144470" y="10746104"/>
            <a:ext cx="166624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REDIS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4" grpId="13"/>
      <p:bldP build="whole" bldLvl="1" animBg="1" rev="0" advAuto="0" spid="268" grpId="15"/>
      <p:bldP build="whole" bldLvl="1" animBg="1" rev="0" advAuto="0" spid="262" grpId="3"/>
      <p:bldP build="whole" bldLvl="1" animBg="1" rev="0" advAuto="0" spid="269" grpId="16"/>
      <p:bldP build="whole" bldLvl="1" animBg="1" rev="0" advAuto="0" spid="279" grpId="20"/>
      <p:bldP build="whole" bldLvl="1" animBg="1" rev="0" advAuto="0" spid="280" grpId="21"/>
      <p:bldP build="whole" bldLvl="1" animBg="1" rev="0" advAuto="0" spid="278" grpId="22"/>
      <p:bldP build="whole" bldLvl="1" animBg="1" rev="0" advAuto="0" spid="261" grpId="10"/>
      <p:bldP build="whole" bldLvl="1" animBg="1" rev="0" advAuto="0" spid="270" grpId="17"/>
      <p:bldP build="whole" bldLvl="1" animBg="1" rev="0" advAuto="0" spid="275" grpId="19"/>
      <p:bldP build="whole" bldLvl="1" animBg="1" rev="0" advAuto="0" spid="260" grpId="12"/>
      <p:bldP build="whole" bldLvl="1" animBg="1" rev="0" advAuto="0" spid="281" grpId="24"/>
      <p:bldP build="whole" bldLvl="1" animBg="1" rev="0" advAuto="0" spid="263" grpId="4"/>
      <p:bldP build="whole" bldLvl="1" animBg="1" rev="0" advAuto="0" spid="259" grpId="11"/>
      <p:bldP build="whole" bldLvl="1" animBg="1" rev="0" advAuto="0" spid="276" grpId="18"/>
      <p:bldP build="whole" bldLvl="1" animBg="1" rev="0" advAuto="0" spid="264" grpId="6"/>
      <p:bldP build="whole" bldLvl="1" animBg="1" rev="0" advAuto="0" spid="277" grpId="23"/>
      <p:bldP build="whole" bldLvl="1" animBg="1" rev="0" advAuto="0" spid="272" grpId="9"/>
      <p:bldP build="whole" bldLvl="1" animBg="1" rev="0" advAuto="0" spid="267" grpId="7"/>
      <p:bldP build="whole" bldLvl="1" animBg="1" rev="0" advAuto="0" spid="271" grpId="1"/>
      <p:bldP build="whole" bldLvl="1" animBg="1" rev="0" advAuto="0" spid="265" grpId="8"/>
      <p:bldP build="whole" bldLvl="1" animBg="1" rev="0" advAuto="0" spid="258" grpId="2"/>
      <p:bldP build="whole" bldLvl="1" animBg="1" rev="0" advAuto="0" spid="273" grpId="14"/>
      <p:bldP build="whole" bldLvl="1" animBg="1" rev="0" advAuto="0" spid="266" grpId="5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rompt"/>
          <p:cNvSpPr txBox="1"/>
          <p:nvPr/>
        </p:nvSpPr>
        <p:spPr>
          <a:xfrm>
            <a:off x="2987084" y="3527740"/>
            <a:ext cx="2795017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84" name="Text Document"/>
          <p:cNvSpPr/>
          <p:nvPr/>
        </p:nvSpPr>
        <p:spPr>
          <a:xfrm>
            <a:off x="14233692" y="6833373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Text Document"/>
          <p:cNvSpPr/>
          <p:nvPr/>
        </p:nvSpPr>
        <p:spPr>
          <a:xfrm>
            <a:off x="16028843" y="69315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Text Document"/>
          <p:cNvSpPr/>
          <p:nvPr/>
        </p:nvSpPr>
        <p:spPr>
          <a:xfrm>
            <a:off x="12438543" y="6833373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7" name="Line"/>
          <p:cNvSpPr/>
          <p:nvPr/>
        </p:nvSpPr>
        <p:spPr>
          <a:xfrm>
            <a:off x="6002774" y="4037388"/>
            <a:ext cx="3011595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88" name="Embedding…"/>
          <p:cNvSpPr txBox="1"/>
          <p:nvPr/>
        </p:nvSpPr>
        <p:spPr>
          <a:xfrm>
            <a:off x="9578935" y="3443411"/>
            <a:ext cx="4024885" cy="190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Model</a:t>
            </a:r>
          </a:p>
        </p:txBody>
      </p:sp>
      <p:sp>
        <p:nvSpPr>
          <p:cNvPr id="289" name="Vector…"/>
          <p:cNvSpPr/>
          <p:nvPr/>
        </p:nvSpPr>
        <p:spPr>
          <a:xfrm>
            <a:off x="19593903" y="1869489"/>
            <a:ext cx="2411862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Vector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Store</a:t>
            </a:r>
          </a:p>
        </p:txBody>
      </p:sp>
      <p:sp>
        <p:nvSpPr>
          <p:cNvPr id="290" name="Line"/>
          <p:cNvSpPr/>
          <p:nvPr/>
        </p:nvSpPr>
        <p:spPr>
          <a:xfrm flipH="1">
            <a:off x="12827664" y="4378291"/>
            <a:ext cx="6474521" cy="55789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91" name="[-0.1848554  -0.17605719…"/>
          <p:cNvSpPr txBox="1"/>
          <p:nvPr/>
        </p:nvSpPr>
        <p:spPr>
          <a:xfrm>
            <a:off x="12099800" y="1170522"/>
            <a:ext cx="4746118" cy="191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[-0.1848554  -0.17605719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0.18991971  0.4797751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0.04560479  0.00489019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0.0982461  -0.07267588]</a:t>
            </a:r>
          </a:p>
        </p:txBody>
      </p:sp>
      <p:sp>
        <p:nvSpPr>
          <p:cNvPr id="292" name="Line"/>
          <p:cNvSpPr/>
          <p:nvPr/>
        </p:nvSpPr>
        <p:spPr>
          <a:xfrm>
            <a:off x="16959916" y="1757373"/>
            <a:ext cx="2531533" cy="98805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93" name="Prompt"/>
          <p:cNvSpPr txBox="1"/>
          <p:nvPr/>
        </p:nvSpPr>
        <p:spPr>
          <a:xfrm>
            <a:off x="8245675" y="6360667"/>
            <a:ext cx="2627377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94" name="+"/>
          <p:cNvSpPr txBox="1"/>
          <p:nvPr/>
        </p:nvSpPr>
        <p:spPr>
          <a:xfrm>
            <a:off x="9273613" y="7116097"/>
            <a:ext cx="571501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95" name="Relevant…"/>
          <p:cNvSpPr txBox="1"/>
          <p:nvPr/>
        </p:nvSpPr>
        <p:spPr>
          <a:xfrm>
            <a:off x="8283590" y="7975182"/>
            <a:ext cx="3077719" cy="190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Relevant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Data</a:t>
            </a:r>
          </a:p>
        </p:txBody>
      </p:sp>
      <p:sp>
        <p:nvSpPr>
          <p:cNvPr id="296" name="Line"/>
          <p:cNvSpPr/>
          <p:nvPr/>
        </p:nvSpPr>
        <p:spPr>
          <a:xfrm>
            <a:off x="9708475" y="9899016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97" name="LLM"/>
          <p:cNvSpPr/>
          <p:nvPr/>
        </p:nvSpPr>
        <p:spPr>
          <a:xfrm>
            <a:off x="8541496" y="11057453"/>
            <a:ext cx="3011595" cy="1488024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298" name="Line"/>
          <p:cNvSpPr/>
          <p:nvPr/>
        </p:nvSpPr>
        <p:spPr>
          <a:xfrm flipH="1" flipV="1">
            <a:off x="2899535" y="4835553"/>
            <a:ext cx="5350846" cy="695443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299" name="Computer"/>
          <p:cNvSpPr/>
          <p:nvPr/>
        </p:nvSpPr>
        <p:spPr>
          <a:xfrm>
            <a:off x="1009588" y="3326046"/>
            <a:ext cx="1762968" cy="1422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RAG Process"/>
          <p:cNvSpPr txBox="1"/>
          <p:nvPr/>
        </p:nvSpPr>
        <p:spPr>
          <a:xfrm>
            <a:off x="317417" y="492614"/>
            <a:ext cx="813435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RAG Process</a:t>
            </a:r>
          </a:p>
        </p:txBody>
      </p:sp>
      <p:sp>
        <p:nvSpPr>
          <p:cNvPr id="301" name="Relevant Data"/>
          <p:cNvSpPr txBox="1"/>
          <p:nvPr/>
        </p:nvSpPr>
        <p:spPr>
          <a:xfrm>
            <a:off x="14907211" y="5068089"/>
            <a:ext cx="3294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Relevant Data</a:t>
            </a:r>
          </a:p>
        </p:txBody>
      </p:sp>
      <p:sp>
        <p:nvSpPr>
          <p:cNvPr id="302" name="Response"/>
          <p:cNvSpPr txBox="1"/>
          <p:nvPr/>
        </p:nvSpPr>
        <p:spPr>
          <a:xfrm>
            <a:off x="1851944" y="8432382"/>
            <a:ext cx="352958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303" name="Text Document"/>
          <p:cNvSpPr/>
          <p:nvPr/>
        </p:nvSpPr>
        <p:spPr>
          <a:xfrm>
            <a:off x="19546410" y="6931596"/>
            <a:ext cx="1531313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4" name="Text Document"/>
          <p:cNvSpPr/>
          <p:nvPr/>
        </p:nvSpPr>
        <p:spPr>
          <a:xfrm>
            <a:off x="17787625" y="69315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1" grpId="6"/>
      <p:bldP build="whole" bldLvl="1" animBg="1" rev="0" advAuto="0" spid="285" grpId="13"/>
      <p:bldP build="whole" bldLvl="1" animBg="1" rev="0" advAuto="0" spid="304" grpId="14"/>
      <p:bldP build="whole" bldLvl="1" animBg="1" rev="0" advAuto="0" spid="296" grpId="19"/>
      <p:bldP build="whole" bldLvl="1" animBg="1" rev="0" advAuto="0" spid="283" grpId="3"/>
      <p:bldP build="whole" bldLvl="1" animBg="1" rev="0" advAuto="0" spid="300" grpId="1"/>
      <p:bldP build="whole" bldLvl="1" animBg="1" rev="0" advAuto="0" spid="287" grpId="4"/>
      <p:bldP build="whole" bldLvl="1" animBg="1" rev="0" advAuto="0" spid="294" grpId="17"/>
      <p:bldP build="whole" bldLvl="1" animBg="1" rev="0" advAuto="0" spid="286" grpId="11"/>
      <p:bldP build="whole" bldLvl="1" animBg="1" rev="0" advAuto="0" spid="293" grpId="16"/>
      <p:bldP build="whole" bldLvl="1" animBg="1" rev="0" advAuto="0" spid="299" grpId="2"/>
      <p:bldP build="whole" bldLvl="1" animBg="1" rev="0" advAuto="0" spid="288" grpId="5"/>
      <p:bldP build="whole" bldLvl="1" animBg="1" rev="0" advAuto="0" spid="298" grpId="21"/>
      <p:bldP build="whole" bldLvl="1" animBg="1" rev="0" advAuto="0" spid="297" grpId="20"/>
      <p:bldP build="whole" bldLvl="1" animBg="1" rev="0" advAuto="0" spid="289" grpId="7"/>
      <p:bldP build="whole" bldLvl="1" animBg="1" rev="0" advAuto="0" spid="284" grpId="12"/>
      <p:bldP build="whole" bldLvl="1" animBg="1" rev="0" advAuto="0" spid="290" grpId="9"/>
      <p:bldP build="whole" bldLvl="1" animBg="1" rev="0" advAuto="0" spid="295" grpId="18"/>
      <p:bldP build="whole" bldLvl="1" animBg="1" rev="0" advAuto="0" spid="303" grpId="15"/>
      <p:bldP build="whole" bldLvl="1" animBg="1" rev="0" advAuto="0" spid="301" grpId="10"/>
      <p:bldP build="whole" bldLvl="1" animBg="1" rev="0" advAuto="0" spid="292" grpId="8"/>
      <p:bldP build="whole" bldLvl="1" animBg="1" rev="0" advAuto="0" spid="302" grpId="22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Document"/>
          <p:cNvSpPr/>
          <p:nvPr/>
        </p:nvSpPr>
        <p:spPr>
          <a:xfrm>
            <a:off x="7573074" y="3582173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7" name="Text Document"/>
          <p:cNvSpPr/>
          <p:nvPr/>
        </p:nvSpPr>
        <p:spPr>
          <a:xfrm>
            <a:off x="9368225" y="36803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8" name="Text Document"/>
          <p:cNvSpPr/>
          <p:nvPr/>
        </p:nvSpPr>
        <p:spPr>
          <a:xfrm>
            <a:off x="5777926" y="3582173"/>
            <a:ext cx="1604048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Prompt"/>
          <p:cNvSpPr txBox="1"/>
          <p:nvPr/>
        </p:nvSpPr>
        <p:spPr>
          <a:xfrm>
            <a:off x="17795601" y="4505427"/>
            <a:ext cx="262737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310" name="+"/>
          <p:cNvSpPr txBox="1"/>
          <p:nvPr/>
        </p:nvSpPr>
        <p:spPr>
          <a:xfrm>
            <a:off x="18823539" y="5260857"/>
            <a:ext cx="571501" cy="1019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11" name="Relevant…"/>
          <p:cNvSpPr txBox="1"/>
          <p:nvPr/>
        </p:nvSpPr>
        <p:spPr>
          <a:xfrm>
            <a:off x="17833516" y="6119942"/>
            <a:ext cx="3077719" cy="190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Relevant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Data</a:t>
            </a:r>
          </a:p>
        </p:txBody>
      </p:sp>
      <p:sp>
        <p:nvSpPr>
          <p:cNvPr id="312" name="Line"/>
          <p:cNvSpPr/>
          <p:nvPr/>
        </p:nvSpPr>
        <p:spPr>
          <a:xfrm>
            <a:off x="19597218" y="8215594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13" name="LLM"/>
          <p:cNvSpPr/>
          <p:nvPr/>
        </p:nvSpPr>
        <p:spPr>
          <a:xfrm>
            <a:off x="18091422" y="9202213"/>
            <a:ext cx="3011595" cy="1488024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314" name="RE-Ranking"/>
          <p:cNvSpPr txBox="1"/>
          <p:nvPr/>
        </p:nvSpPr>
        <p:spPr>
          <a:xfrm>
            <a:off x="189638" y="492614"/>
            <a:ext cx="735584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RE-Ranking</a:t>
            </a:r>
          </a:p>
        </p:txBody>
      </p:sp>
      <p:sp>
        <p:nvSpPr>
          <p:cNvPr id="315" name="Text Document"/>
          <p:cNvSpPr/>
          <p:nvPr/>
        </p:nvSpPr>
        <p:spPr>
          <a:xfrm>
            <a:off x="12885790" y="36803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6" name="Text Document"/>
          <p:cNvSpPr/>
          <p:nvPr/>
        </p:nvSpPr>
        <p:spPr>
          <a:xfrm>
            <a:off x="11127008" y="36803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7" name="Re-Ranking…"/>
          <p:cNvSpPr/>
          <p:nvPr/>
        </p:nvSpPr>
        <p:spPr>
          <a:xfrm>
            <a:off x="578431" y="6521712"/>
            <a:ext cx="3011595" cy="1488024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Re-Ranking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Model</a:t>
            </a:r>
          </a:p>
        </p:txBody>
      </p:sp>
      <p:sp>
        <p:nvSpPr>
          <p:cNvPr id="318" name="Text Document"/>
          <p:cNvSpPr/>
          <p:nvPr/>
        </p:nvSpPr>
        <p:spPr>
          <a:xfrm>
            <a:off x="5236559" y="9426964"/>
            <a:ext cx="1604048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9" name="Text Document"/>
          <p:cNvSpPr/>
          <p:nvPr/>
        </p:nvSpPr>
        <p:spPr>
          <a:xfrm>
            <a:off x="7031709" y="952518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0" name="Text Document"/>
          <p:cNvSpPr/>
          <p:nvPr/>
        </p:nvSpPr>
        <p:spPr>
          <a:xfrm>
            <a:off x="3441410" y="9426964"/>
            <a:ext cx="1604048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Line"/>
          <p:cNvSpPr/>
          <p:nvPr/>
        </p:nvSpPr>
        <p:spPr>
          <a:xfrm flipV="1">
            <a:off x="3867558" y="5731444"/>
            <a:ext cx="1801185" cy="1179699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22" name="Line"/>
          <p:cNvSpPr/>
          <p:nvPr/>
        </p:nvSpPr>
        <p:spPr>
          <a:xfrm>
            <a:off x="3867558" y="7651042"/>
            <a:ext cx="779114" cy="156123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23" name="Text Document"/>
          <p:cNvSpPr/>
          <p:nvPr/>
        </p:nvSpPr>
        <p:spPr>
          <a:xfrm>
            <a:off x="14548519" y="6833373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Text Document"/>
          <p:cNvSpPr/>
          <p:nvPr/>
        </p:nvSpPr>
        <p:spPr>
          <a:xfrm>
            <a:off x="16343670" y="69315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Text Document"/>
          <p:cNvSpPr/>
          <p:nvPr/>
        </p:nvSpPr>
        <p:spPr>
          <a:xfrm>
            <a:off x="12753371" y="6833373"/>
            <a:ext cx="1604048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6" name="Prompt"/>
          <p:cNvSpPr txBox="1"/>
          <p:nvPr/>
        </p:nvSpPr>
        <p:spPr>
          <a:xfrm>
            <a:off x="2334415" y="4109820"/>
            <a:ext cx="2627377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6" grpId="6"/>
      <p:bldP build="whole" bldLvl="1" animBg="1" rev="0" advAuto="0" spid="321" grpId="9"/>
      <p:bldP build="whole" bldLvl="1" animBg="1" rev="0" advAuto="0" spid="314" grpId="1"/>
      <p:bldP build="whole" bldLvl="1" animBg="1" rev="0" advAuto="0" spid="325" grpId="17"/>
      <p:bldP build="whole" bldLvl="1" animBg="1" rev="0" advAuto="0" spid="322" grpId="10"/>
      <p:bldP build="whole" bldLvl="1" animBg="1" rev="0" advAuto="0" spid="319" grpId="13"/>
      <p:bldP build="whole" bldLvl="1" animBg="1" rev="0" advAuto="0" spid="313" grpId="21"/>
      <p:bldP build="whole" bldLvl="1" animBg="1" rev="0" advAuto="0" spid="308" grpId="3"/>
      <p:bldP build="whole" bldLvl="1" animBg="1" rev="0" advAuto="0" spid="318" grpId="12"/>
      <p:bldP build="whole" bldLvl="1" animBg="1" rev="0" advAuto="0" spid="306" grpId="4"/>
      <p:bldP build="whole" bldLvl="1" animBg="1" rev="0" advAuto="0" spid="307" grpId="5"/>
      <p:bldP build="whole" bldLvl="1" animBg="1" rev="0" advAuto="0" spid="311" grpId="16"/>
      <p:bldP build="whole" bldLvl="1" animBg="1" rev="0" advAuto="0" spid="326" grpId="2"/>
      <p:bldP build="whole" bldLvl="1" animBg="1" rev="0" advAuto="0" spid="324" grpId="19"/>
      <p:bldP build="whole" bldLvl="1" animBg="1" rev="0" advAuto="0" spid="315" grpId="7"/>
      <p:bldP build="whole" bldLvl="1" animBg="1" rev="0" advAuto="0" spid="312" grpId="20"/>
      <p:bldP build="whole" bldLvl="1" animBg="1" rev="0" advAuto="0" spid="317" grpId="8"/>
      <p:bldP build="whole" bldLvl="1" animBg="1" rev="0" advAuto="0" spid="320" grpId="11"/>
      <p:bldP build="whole" bldLvl="1" animBg="1" rev="0" advAuto="0" spid="310" grpId="15"/>
      <p:bldP build="whole" bldLvl="1" animBg="1" rev="0" advAuto="0" spid="309" grpId="14"/>
      <p:bldP build="whole" bldLvl="1" animBg="1" rev="0" advAuto="0" spid="323" grpId="18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ypes"/>
          <p:cNvSpPr txBox="1"/>
          <p:nvPr/>
        </p:nvSpPr>
        <p:spPr>
          <a:xfrm>
            <a:off x="640425" y="431786"/>
            <a:ext cx="3595371" cy="1626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Types</a:t>
            </a:r>
          </a:p>
        </p:txBody>
      </p:sp>
      <p:sp>
        <p:nvSpPr>
          <p:cNvPr id="329" name="Simple Similarity Scores"/>
          <p:cNvSpPr txBox="1"/>
          <p:nvPr/>
        </p:nvSpPr>
        <p:spPr>
          <a:xfrm>
            <a:off x="3152003" y="3259959"/>
            <a:ext cx="13850621" cy="1577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Simple Similarity Scores</a:t>
            </a:r>
          </a:p>
        </p:txBody>
      </p:sp>
      <p:sp>
        <p:nvSpPr>
          <p:cNvPr id="330" name="Cross-Encoder Reranking"/>
          <p:cNvSpPr txBox="1"/>
          <p:nvPr/>
        </p:nvSpPr>
        <p:spPr>
          <a:xfrm>
            <a:off x="3149739" y="6160571"/>
            <a:ext cx="1476756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Cross-Encoder Reranking</a:t>
            </a:r>
          </a:p>
        </p:txBody>
      </p:sp>
      <p:sp>
        <p:nvSpPr>
          <p:cNvPr id="331" name="LLM-based Reranking"/>
          <p:cNvSpPr txBox="1"/>
          <p:nvPr/>
        </p:nvSpPr>
        <p:spPr>
          <a:xfrm>
            <a:off x="3289455" y="10702918"/>
            <a:ext cx="1272413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LLM-based Reranking</a:t>
            </a:r>
          </a:p>
        </p:txBody>
      </p:sp>
      <p:sp>
        <p:nvSpPr>
          <p:cNvPr id="332" name="Cohere Rerank"/>
          <p:cNvSpPr txBox="1"/>
          <p:nvPr/>
        </p:nvSpPr>
        <p:spPr>
          <a:xfrm>
            <a:off x="11619344" y="8325144"/>
            <a:ext cx="8605521" cy="1577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Cohere Rerank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8" grpId="1"/>
      <p:bldP build="whole" bldLvl="1" animBg="1" rev="0" advAuto="0" spid="330" grpId="3"/>
      <p:bldP build="whole" bldLvl="1" animBg="1" rev="0" advAuto="0" spid="332" grpId="4"/>
      <p:bldP build="whole" bldLvl="1" animBg="1" rev="0" advAuto="0" spid="329" grpId="2"/>
      <p:bldP build="whole" bldLvl="1" animBg="1" rev="0" advAuto="0" spid="331" grpId="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rompt"/>
          <p:cNvSpPr txBox="1"/>
          <p:nvPr/>
        </p:nvSpPr>
        <p:spPr>
          <a:xfrm>
            <a:off x="2987084" y="3527740"/>
            <a:ext cx="2795017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335" name="Text Document"/>
          <p:cNvSpPr/>
          <p:nvPr/>
        </p:nvSpPr>
        <p:spPr>
          <a:xfrm>
            <a:off x="14233692" y="6833373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6" name="Text Document"/>
          <p:cNvSpPr/>
          <p:nvPr/>
        </p:nvSpPr>
        <p:spPr>
          <a:xfrm>
            <a:off x="16028843" y="69315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Text Document"/>
          <p:cNvSpPr/>
          <p:nvPr/>
        </p:nvSpPr>
        <p:spPr>
          <a:xfrm>
            <a:off x="12438543" y="6833373"/>
            <a:ext cx="1604049" cy="207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8" name="Line"/>
          <p:cNvSpPr/>
          <p:nvPr/>
        </p:nvSpPr>
        <p:spPr>
          <a:xfrm>
            <a:off x="6002774" y="4037388"/>
            <a:ext cx="3011595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39" name="Embedding…"/>
          <p:cNvSpPr txBox="1"/>
          <p:nvPr/>
        </p:nvSpPr>
        <p:spPr>
          <a:xfrm>
            <a:off x="9578935" y="3443411"/>
            <a:ext cx="4024885" cy="190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Model</a:t>
            </a:r>
          </a:p>
        </p:txBody>
      </p:sp>
      <p:sp>
        <p:nvSpPr>
          <p:cNvPr id="340" name="Vector…"/>
          <p:cNvSpPr/>
          <p:nvPr/>
        </p:nvSpPr>
        <p:spPr>
          <a:xfrm>
            <a:off x="19593903" y="1869489"/>
            <a:ext cx="2411862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Vector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Store</a:t>
            </a:r>
          </a:p>
        </p:txBody>
      </p:sp>
      <p:sp>
        <p:nvSpPr>
          <p:cNvPr id="341" name="Line"/>
          <p:cNvSpPr/>
          <p:nvPr/>
        </p:nvSpPr>
        <p:spPr>
          <a:xfrm flipH="1">
            <a:off x="12827664" y="4378291"/>
            <a:ext cx="6474521" cy="55789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42" name="[-0.1848554  -0.17605719…"/>
          <p:cNvSpPr txBox="1"/>
          <p:nvPr/>
        </p:nvSpPr>
        <p:spPr>
          <a:xfrm>
            <a:off x="12099800" y="1170522"/>
            <a:ext cx="4746118" cy="191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[-0.1848554  -0.17605719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0.18991971  0.4797751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0.04560479  0.00489019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0.0982461  -0.07267588]</a:t>
            </a:r>
          </a:p>
        </p:txBody>
      </p:sp>
      <p:sp>
        <p:nvSpPr>
          <p:cNvPr id="343" name="Line"/>
          <p:cNvSpPr/>
          <p:nvPr/>
        </p:nvSpPr>
        <p:spPr>
          <a:xfrm>
            <a:off x="16959916" y="1757373"/>
            <a:ext cx="2531533" cy="98805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44" name="Prompt"/>
          <p:cNvSpPr txBox="1"/>
          <p:nvPr/>
        </p:nvSpPr>
        <p:spPr>
          <a:xfrm>
            <a:off x="8245675" y="6360667"/>
            <a:ext cx="2627377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345" name="+"/>
          <p:cNvSpPr txBox="1"/>
          <p:nvPr/>
        </p:nvSpPr>
        <p:spPr>
          <a:xfrm>
            <a:off x="9273613" y="7116097"/>
            <a:ext cx="571501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46" name="Relevant…"/>
          <p:cNvSpPr txBox="1"/>
          <p:nvPr/>
        </p:nvSpPr>
        <p:spPr>
          <a:xfrm>
            <a:off x="8283590" y="7975182"/>
            <a:ext cx="3077719" cy="190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Relevant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Data</a:t>
            </a:r>
          </a:p>
        </p:txBody>
      </p:sp>
      <p:sp>
        <p:nvSpPr>
          <p:cNvPr id="347" name="Line"/>
          <p:cNvSpPr/>
          <p:nvPr/>
        </p:nvSpPr>
        <p:spPr>
          <a:xfrm>
            <a:off x="9708475" y="9899016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48" name="LLM"/>
          <p:cNvSpPr/>
          <p:nvPr/>
        </p:nvSpPr>
        <p:spPr>
          <a:xfrm>
            <a:off x="8541496" y="11057453"/>
            <a:ext cx="3011595" cy="1488024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349" name="Line"/>
          <p:cNvSpPr/>
          <p:nvPr/>
        </p:nvSpPr>
        <p:spPr>
          <a:xfrm flipH="1" flipV="1">
            <a:off x="2899535" y="4835553"/>
            <a:ext cx="5350846" cy="695443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50" name="Computer"/>
          <p:cNvSpPr/>
          <p:nvPr/>
        </p:nvSpPr>
        <p:spPr>
          <a:xfrm>
            <a:off x="1009588" y="3326046"/>
            <a:ext cx="1762968" cy="1422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1" name="Evals"/>
          <p:cNvSpPr txBox="1"/>
          <p:nvPr/>
        </p:nvSpPr>
        <p:spPr>
          <a:xfrm>
            <a:off x="526655" y="431786"/>
            <a:ext cx="3336291" cy="1626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Evals</a:t>
            </a:r>
          </a:p>
        </p:txBody>
      </p:sp>
      <p:sp>
        <p:nvSpPr>
          <p:cNvPr id="352" name="Relevant Data"/>
          <p:cNvSpPr txBox="1"/>
          <p:nvPr/>
        </p:nvSpPr>
        <p:spPr>
          <a:xfrm>
            <a:off x="14907211" y="5068089"/>
            <a:ext cx="3294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Relevant Data</a:t>
            </a:r>
          </a:p>
        </p:txBody>
      </p:sp>
      <p:sp>
        <p:nvSpPr>
          <p:cNvPr id="353" name="Response"/>
          <p:cNvSpPr txBox="1"/>
          <p:nvPr/>
        </p:nvSpPr>
        <p:spPr>
          <a:xfrm>
            <a:off x="1851944" y="8432382"/>
            <a:ext cx="352958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354" name="Text Document"/>
          <p:cNvSpPr/>
          <p:nvPr/>
        </p:nvSpPr>
        <p:spPr>
          <a:xfrm>
            <a:off x="19546410" y="6931596"/>
            <a:ext cx="1531313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60D937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5" name="Text Document"/>
          <p:cNvSpPr/>
          <p:nvPr/>
        </p:nvSpPr>
        <p:spPr>
          <a:xfrm>
            <a:off x="17787625" y="693159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6" name="Relavent"/>
          <p:cNvSpPr txBox="1"/>
          <p:nvPr/>
        </p:nvSpPr>
        <p:spPr>
          <a:xfrm>
            <a:off x="2403096" y="9743950"/>
            <a:ext cx="3289555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Relavent</a:t>
            </a:r>
          </a:p>
        </p:txBody>
      </p:sp>
      <p:sp>
        <p:nvSpPr>
          <p:cNvPr id="357" name="Faithful"/>
          <p:cNvSpPr txBox="1"/>
          <p:nvPr/>
        </p:nvSpPr>
        <p:spPr>
          <a:xfrm>
            <a:off x="2973368" y="11080151"/>
            <a:ext cx="2822449" cy="10192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Faithful</a:t>
            </a:r>
          </a:p>
        </p:txBody>
      </p:sp>
      <p:sp>
        <p:nvSpPr>
          <p:cNvPr id="358" name="Right Context"/>
          <p:cNvSpPr txBox="1"/>
          <p:nvPr/>
        </p:nvSpPr>
        <p:spPr>
          <a:xfrm>
            <a:off x="13504443" y="9443151"/>
            <a:ext cx="5123689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Right Context</a:t>
            </a:r>
          </a:p>
        </p:txBody>
      </p:sp>
      <p:sp>
        <p:nvSpPr>
          <p:cNvPr id="359" name="Measure"/>
          <p:cNvSpPr txBox="1"/>
          <p:nvPr/>
        </p:nvSpPr>
        <p:spPr>
          <a:xfrm>
            <a:off x="4436092" y="1004945"/>
            <a:ext cx="221234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Measure</a:t>
            </a:r>
          </a:p>
        </p:txBody>
      </p:sp>
      <p:sp>
        <p:nvSpPr>
          <p:cNvPr id="360" name="Compare"/>
          <p:cNvSpPr txBox="1"/>
          <p:nvPr/>
        </p:nvSpPr>
        <p:spPr>
          <a:xfrm>
            <a:off x="6809671" y="1004945"/>
            <a:ext cx="234340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Compare</a:t>
            </a:r>
          </a:p>
        </p:txBody>
      </p:sp>
      <p:sp>
        <p:nvSpPr>
          <p:cNvPr id="361" name="Improve"/>
          <p:cNvSpPr txBox="1"/>
          <p:nvPr/>
        </p:nvSpPr>
        <p:spPr>
          <a:xfrm>
            <a:off x="9304882" y="1004945"/>
            <a:ext cx="208940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Improve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9" grpId="26"/>
      <p:bldP build="whole" bldLvl="1" animBg="1" rev="0" advAuto="0" spid="349" grpId="20"/>
      <p:bldP build="whole" bldLvl="1" animBg="1" rev="0" advAuto="0" spid="338" grpId="3"/>
      <p:bldP build="whole" bldLvl="1" animBg="1" rev="0" advAuto="0" spid="361" grpId="28"/>
      <p:bldP build="whole" bldLvl="1" animBg="1" rev="0" advAuto="0" spid="347" grpId="18"/>
      <p:bldP build="whole" bldLvl="1" animBg="1" rev="0" advAuto="0" spid="341" grpId="8"/>
      <p:bldP build="whole" bldLvl="1" animBg="1" rev="0" advAuto="0" spid="339" grpId="4"/>
      <p:bldP build="whole" bldLvl="1" animBg="1" rev="0" advAuto="0" spid="360" grpId="27"/>
      <p:bldP build="whole" bldLvl="1" animBg="1" rev="0" advAuto="0" spid="352" grpId="9"/>
      <p:bldP build="whole" bldLvl="1" animBg="1" rev="0" advAuto="0" spid="356" grpId="23"/>
      <p:bldP build="whole" bldLvl="1" animBg="1" rev="0" advAuto="0" spid="355" grpId="13"/>
      <p:bldP build="whole" bldLvl="1" animBg="1" rev="0" advAuto="0" spid="344" grpId="15"/>
      <p:bldP build="whole" bldLvl="1" animBg="1" rev="0" advAuto="0" spid="343" grpId="7"/>
      <p:bldP build="whole" bldLvl="1" animBg="1" rev="0" advAuto="0" spid="336" grpId="12"/>
      <p:bldP build="whole" bldLvl="1" animBg="1" rev="0" advAuto="0" spid="335" grpId="11"/>
      <p:bldP build="whole" bldLvl="1" animBg="1" rev="0" advAuto="0" spid="353" grpId="21"/>
      <p:bldP build="whole" bldLvl="1" animBg="1" rev="0" advAuto="0" spid="337" grpId="10"/>
      <p:bldP build="whole" bldLvl="1" animBg="1" rev="0" advAuto="0" spid="350" grpId="1"/>
      <p:bldP build="whole" bldLvl="1" animBg="1" rev="0" advAuto="0" spid="346" grpId="17"/>
      <p:bldP build="whole" bldLvl="1" animBg="1" rev="0" advAuto="0" spid="354" grpId="14"/>
      <p:bldP build="whole" bldLvl="1" animBg="1" rev="0" advAuto="0" spid="340" grpId="6"/>
      <p:bldP build="whole" bldLvl="1" animBg="1" rev="0" advAuto="0" spid="345" grpId="16"/>
      <p:bldP build="whole" bldLvl="1" animBg="1" rev="0" advAuto="0" spid="348" grpId="19"/>
      <p:bldP build="whole" bldLvl="1" animBg="1" rev="0" advAuto="0" spid="334" grpId="2"/>
      <p:bldP build="whole" bldLvl="1" animBg="1" rev="0" advAuto="0" spid="357" grpId="24"/>
      <p:bldP build="whole" bldLvl="1" animBg="1" rev="0" advAuto="0" spid="358" grpId="25"/>
      <p:bldP build="whole" bldLvl="1" animBg="1" rev="0" advAuto="0" spid="342" grpId="5"/>
      <p:bldP build="whole" bldLvl="1" animBg="1" rev="0" advAuto="0" spid="351" grpId="2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AGAS"/>
          <p:cNvSpPr txBox="1"/>
          <p:nvPr/>
        </p:nvSpPr>
        <p:spPr>
          <a:xfrm>
            <a:off x="523425" y="523028"/>
            <a:ext cx="455930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RAGAS</a:t>
            </a:r>
          </a:p>
        </p:txBody>
      </p:sp>
      <p:sp>
        <p:nvSpPr>
          <p:cNvPr id="364" name="Question"/>
          <p:cNvSpPr txBox="1"/>
          <p:nvPr/>
        </p:nvSpPr>
        <p:spPr>
          <a:xfrm>
            <a:off x="1230711" y="3205717"/>
            <a:ext cx="4198621" cy="127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Question</a:t>
            </a:r>
          </a:p>
        </p:txBody>
      </p:sp>
      <p:sp>
        <p:nvSpPr>
          <p:cNvPr id="365" name="Answer"/>
          <p:cNvSpPr txBox="1"/>
          <p:nvPr/>
        </p:nvSpPr>
        <p:spPr>
          <a:xfrm>
            <a:off x="1274586" y="4863166"/>
            <a:ext cx="349961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Answer</a:t>
            </a:r>
          </a:p>
        </p:txBody>
      </p:sp>
      <p:sp>
        <p:nvSpPr>
          <p:cNvPr id="366" name="Contexts"/>
          <p:cNvSpPr txBox="1"/>
          <p:nvPr/>
        </p:nvSpPr>
        <p:spPr>
          <a:xfrm>
            <a:off x="1222075" y="6639847"/>
            <a:ext cx="421589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Contexts</a:t>
            </a:r>
          </a:p>
        </p:txBody>
      </p:sp>
      <p:sp>
        <p:nvSpPr>
          <p:cNvPr id="367" name="Metrics"/>
          <p:cNvSpPr txBox="1"/>
          <p:nvPr/>
        </p:nvSpPr>
        <p:spPr>
          <a:xfrm>
            <a:off x="12093732" y="523028"/>
            <a:ext cx="467487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Metrics</a:t>
            </a:r>
          </a:p>
        </p:txBody>
      </p:sp>
      <p:sp>
        <p:nvSpPr>
          <p:cNvPr id="368" name="Faithfulness"/>
          <p:cNvSpPr txBox="1"/>
          <p:nvPr/>
        </p:nvSpPr>
        <p:spPr>
          <a:xfrm>
            <a:off x="12773216" y="2803752"/>
            <a:ext cx="693547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Faithfulness</a:t>
            </a:r>
          </a:p>
        </p:txBody>
      </p:sp>
      <p:sp>
        <p:nvSpPr>
          <p:cNvPr id="369" name="Answer Relevancy"/>
          <p:cNvSpPr txBox="1"/>
          <p:nvPr/>
        </p:nvSpPr>
        <p:spPr>
          <a:xfrm>
            <a:off x="12788624" y="4679357"/>
            <a:ext cx="1055497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Answer Relevancy</a:t>
            </a:r>
          </a:p>
        </p:txBody>
      </p:sp>
      <p:sp>
        <p:nvSpPr>
          <p:cNvPr id="370" name="Context Precision"/>
          <p:cNvSpPr txBox="1"/>
          <p:nvPr/>
        </p:nvSpPr>
        <p:spPr>
          <a:xfrm>
            <a:off x="12621011" y="6758161"/>
            <a:ext cx="1018032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Context Precision</a:t>
            </a:r>
          </a:p>
        </p:txBody>
      </p:sp>
      <p:sp>
        <p:nvSpPr>
          <p:cNvPr id="371" name="Context Recall"/>
          <p:cNvSpPr txBox="1"/>
          <p:nvPr/>
        </p:nvSpPr>
        <p:spPr>
          <a:xfrm>
            <a:off x="12675770" y="8832530"/>
            <a:ext cx="8439151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10000">
                <a:solidFill>
                  <a:srgbClr val="000000"/>
                </a:solidFill>
              </a:defRPr>
            </a:lvl1pPr>
          </a:lstStyle>
          <a:p>
            <a:pPr/>
            <a:r>
              <a:t>Context Recall</a:t>
            </a:r>
          </a:p>
        </p:txBody>
      </p:sp>
      <p:sp>
        <p:nvSpPr>
          <p:cNvPr id="372" name="Reference Answer"/>
          <p:cNvSpPr txBox="1"/>
          <p:nvPr/>
        </p:nvSpPr>
        <p:spPr>
          <a:xfrm>
            <a:off x="1146332" y="8416528"/>
            <a:ext cx="839165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Reference Answer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0" grpId="9"/>
      <p:bldP build="whole" bldLvl="1" animBg="1" rev="0" advAuto="0" spid="366" grpId="4"/>
      <p:bldP build="whole" bldLvl="1" animBg="1" rev="0" advAuto="0" spid="364" grpId="2"/>
      <p:bldP build="whole" bldLvl="1" animBg="1" rev="0" advAuto="0" spid="365" grpId="3"/>
      <p:bldP build="whole" bldLvl="1" animBg="1" rev="0" advAuto="0" spid="372" grpId="5"/>
      <p:bldP build="whole" bldLvl="1" animBg="1" rev="0" advAuto="0" spid="368" grpId="7"/>
      <p:bldP build="whole" bldLvl="1" animBg="1" rev="0" advAuto="0" spid="371" grpId="10"/>
      <p:bldP build="whole" bldLvl="1" animBg="1" rev="0" advAuto="0" spid="369" grpId="8"/>
      <p:bldP build="whole" bldLvl="1" animBg="1" rev="0" advAuto="0" spid="367" grpId="6"/>
      <p:bldP build="whole" bldLvl="1" animBg="1" rev="0" advAuto="0" spid="36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Metadata"/>
          <p:cNvSpPr txBox="1"/>
          <p:nvPr/>
        </p:nvSpPr>
        <p:spPr>
          <a:xfrm>
            <a:off x="632542" y="523028"/>
            <a:ext cx="585216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Metadata</a:t>
            </a:r>
          </a:p>
        </p:txBody>
      </p:sp>
      <p:sp>
        <p:nvSpPr>
          <p:cNvPr id="375" name="Prompt"/>
          <p:cNvSpPr txBox="1"/>
          <p:nvPr/>
        </p:nvSpPr>
        <p:spPr>
          <a:xfrm>
            <a:off x="2555284" y="4035740"/>
            <a:ext cx="2795017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376" name="Text Document"/>
          <p:cNvSpPr/>
          <p:nvPr/>
        </p:nvSpPr>
        <p:spPr>
          <a:xfrm>
            <a:off x="14051351" y="6897353"/>
            <a:ext cx="1604049" cy="2077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7" name="Text Document"/>
          <p:cNvSpPr/>
          <p:nvPr/>
        </p:nvSpPr>
        <p:spPr>
          <a:xfrm>
            <a:off x="15846502" y="699557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8" name="Text Document"/>
          <p:cNvSpPr/>
          <p:nvPr/>
        </p:nvSpPr>
        <p:spPr>
          <a:xfrm>
            <a:off x="12256201" y="6897353"/>
            <a:ext cx="1604049" cy="2077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9" name="Line"/>
          <p:cNvSpPr/>
          <p:nvPr/>
        </p:nvSpPr>
        <p:spPr>
          <a:xfrm>
            <a:off x="5570974" y="4545388"/>
            <a:ext cx="3011595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80" name="Embedding…"/>
          <p:cNvSpPr txBox="1"/>
          <p:nvPr/>
        </p:nvSpPr>
        <p:spPr>
          <a:xfrm>
            <a:off x="9147135" y="3951411"/>
            <a:ext cx="4024885" cy="1909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Embedding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Model</a:t>
            </a:r>
          </a:p>
        </p:txBody>
      </p:sp>
      <p:sp>
        <p:nvSpPr>
          <p:cNvPr id="381" name="Vector…"/>
          <p:cNvSpPr/>
          <p:nvPr/>
        </p:nvSpPr>
        <p:spPr>
          <a:xfrm>
            <a:off x="19162103" y="2377489"/>
            <a:ext cx="2411862" cy="31839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fill="norm" stroke="1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Vector</a:t>
            </a:r>
          </a:p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Store</a:t>
            </a:r>
          </a:p>
        </p:txBody>
      </p:sp>
      <p:sp>
        <p:nvSpPr>
          <p:cNvPr id="382" name="Line"/>
          <p:cNvSpPr/>
          <p:nvPr/>
        </p:nvSpPr>
        <p:spPr>
          <a:xfrm flipH="1">
            <a:off x="11850762" y="5193276"/>
            <a:ext cx="7206161" cy="86349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83" name="[-0.1848554  -0.17605719…"/>
          <p:cNvSpPr txBox="1"/>
          <p:nvPr/>
        </p:nvSpPr>
        <p:spPr>
          <a:xfrm>
            <a:off x="11668000" y="1678522"/>
            <a:ext cx="4746118" cy="1919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[-0.1848554  -0.17605719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0.18991971  0.4797751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0.04560479  0.00489019  </a:t>
            </a:r>
          </a:p>
          <a:p>
            <a:pPr defTabSz="825500">
              <a:defRPr sz="3000">
                <a:solidFill>
                  <a:srgbClr val="000000"/>
                </a:solidFill>
              </a:defRPr>
            </a:pPr>
            <a:r>
              <a:t> 0.0982461  -0.07267588]</a:t>
            </a:r>
          </a:p>
        </p:txBody>
      </p:sp>
      <p:sp>
        <p:nvSpPr>
          <p:cNvPr id="384" name="Line"/>
          <p:cNvSpPr/>
          <p:nvPr/>
        </p:nvSpPr>
        <p:spPr>
          <a:xfrm>
            <a:off x="16528116" y="2265373"/>
            <a:ext cx="2531533" cy="988051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85" name="Prompt"/>
          <p:cNvSpPr txBox="1"/>
          <p:nvPr/>
        </p:nvSpPr>
        <p:spPr>
          <a:xfrm>
            <a:off x="7813875" y="6868667"/>
            <a:ext cx="2627377" cy="99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386" name="+"/>
          <p:cNvSpPr txBox="1"/>
          <p:nvPr/>
        </p:nvSpPr>
        <p:spPr>
          <a:xfrm>
            <a:off x="8841813" y="7624097"/>
            <a:ext cx="571501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6000">
                <a:solidFill>
                  <a:srgbClr val="000000"/>
                </a:solidFill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387" name="Relevant…"/>
          <p:cNvSpPr txBox="1"/>
          <p:nvPr/>
        </p:nvSpPr>
        <p:spPr>
          <a:xfrm>
            <a:off x="7851790" y="8483182"/>
            <a:ext cx="3077719" cy="190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Relevant</a:t>
            </a:r>
          </a:p>
          <a:p>
            <a:pPr defTabSz="825500">
              <a:defRPr sz="6000">
                <a:solidFill>
                  <a:srgbClr val="000000"/>
                </a:solidFill>
              </a:defRPr>
            </a:pPr>
            <a:r>
              <a:t>Data</a:t>
            </a:r>
          </a:p>
        </p:txBody>
      </p:sp>
      <p:sp>
        <p:nvSpPr>
          <p:cNvPr id="388" name="Line"/>
          <p:cNvSpPr/>
          <p:nvPr/>
        </p:nvSpPr>
        <p:spPr>
          <a:xfrm>
            <a:off x="9276675" y="10407016"/>
            <a:ext cx="1" cy="709166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89" name="LLM"/>
          <p:cNvSpPr/>
          <p:nvPr/>
        </p:nvSpPr>
        <p:spPr>
          <a:xfrm>
            <a:off x="8109696" y="11565453"/>
            <a:ext cx="3011595" cy="1488024"/>
          </a:xfrm>
          <a:prstGeom prst="rect">
            <a:avLst/>
          </a:prstGeom>
          <a:solidFill>
            <a:srgbClr val="F8BA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390" name="Line"/>
          <p:cNvSpPr/>
          <p:nvPr/>
        </p:nvSpPr>
        <p:spPr>
          <a:xfrm flipH="1" flipV="1">
            <a:off x="2467735" y="5343553"/>
            <a:ext cx="5350846" cy="6954432"/>
          </a:xfrm>
          <a:prstGeom prst="line">
            <a:avLst/>
          </a:prstGeom>
          <a:ln w="635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 defTabSz="825500">
              <a:defRPr b="1" sz="3000">
                <a:solidFill>
                  <a:srgbClr val="000000"/>
                </a:solidFill>
              </a:defRPr>
            </a:pPr>
          </a:p>
        </p:txBody>
      </p:sp>
      <p:sp>
        <p:nvSpPr>
          <p:cNvPr id="391" name="Computer"/>
          <p:cNvSpPr/>
          <p:nvPr/>
        </p:nvSpPr>
        <p:spPr>
          <a:xfrm>
            <a:off x="577788" y="3834046"/>
            <a:ext cx="1762968" cy="14226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2" name="Relevant Data"/>
          <p:cNvSpPr txBox="1"/>
          <p:nvPr/>
        </p:nvSpPr>
        <p:spPr>
          <a:xfrm>
            <a:off x="14780211" y="5627419"/>
            <a:ext cx="3294381" cy="696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4000">
                <a:solidFill>
                  <a:srgbClr val="000000"/>
                </a:solidFill>
              </a:defRPr>
            </a:lvl1pPr>
          </a:lstStyle>
          <a:p>
            <a:pPr/>
            <a:r>
              <a:t>Relevant Data</a:t>
            </a:r>
          </a:p>
        </p:txBody>
      </p:sp>
      <p:sp>
        <p:nvSpPr>
          <p:cNvPr id="393" name="Response"/>
          <p:cNvSpPr txBox="1"/>
          <p:nvPr/>
        </p:nvSpPr>
        <p:spPr>
          <a:xfrm>
            <a:off x="1420144" y="8940382"/>
            <a:ext cx="3529585" cy="994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6000">
                <a:solidFill>
                  <a:srgbClr val="000000"/>
                </a:solidFill>
              </a:defRPr>
            </a:lvl1pPr>
          </a:lstStyle>
          <a:p>
            <a:pPr/>
            <a:r>
              <a:t>Response</a:t>
            </a:r>
          </a:p>
        </p:txBody>
      </p:sp>
      <p:sp>
        <p:nvSpPr>
          <p:cNvPr id="394" name="Text Document"/>
          <p:cNvSpPr/>
          <p:nvPr/>
        </p:nvSpPr>
        <p:spPr>
          <a:xfrm>
            <a:off x="19364067" y="6995576"/>
            <a:ext cx="1531314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5" name="Text Document"/>
          <p:cNvSpPr/>
          <p:nvPr/>
        </p:nvSpPr>
        <p:spPr>
          <a:xfrm>
            <a:off x="17605285" y="6995576"/>
            <a:ext cx="1531313" cy="19830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1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  <a:moveTo>
                  <a:pt x="3916" y="7813"/>
                </a:moveTo>
                <a:lnTo>
                  <a:pt x="17684" y="7813"/>
                </a:lnTo>
                <a:cubicBezTo>
                  <a:pt x="17718" y="7813"/>
                  <a:pt x="17747" y="7836"/>
                  <a:pt x="17747" y="7862"/>
                </a:cubicBezTo>
                <a:lnTo>
                  <a:pt x="17747" y="8842"/>
                </a:lnTo>
                <a:cubicBezTo>
                  <a:pt x="17747" y="8868"/>
                  <a:pt x="17718" y="8890"/>
                  <a:pt x="17684" y="8890"/>
                </a:cubicBezTo>
                <a:lnTo>
                  <a:pt x="3916" y="8890"/>
                </a:lnTo>
                <a:cubicBezTo>
                  <a:pt x="3882" y="8890"/>
                  <a:pt x="3853" y="8868"/>
                  <a:pt x="3853" y="8842"/>
                </a:cubicBezTo>
                <a:lnTo>
                  <a:pt x="3853" y="7862"/>
                </a:lnTo>
                <a:cubicBezTo>
                  <a:pt x="3853" y="7836"/>
                  <a:pt x="3882" y="7813"/>
                  <a:pt x="3916" y="7813"/>
                </a:cubicBezTo>
                <a:close/>
                <a:moveTo>
                  <a:pt x="3916" y="10498"/>
                </a:moveTo>
                <a:lnTo>
                  <a:pt x="17684" y="10498"/>
                </a:lnTo>
                <a:cubicBezTo>
                  <a:pt x="17718" y="10498"/>
                  <a:pt x="17747" y="10520"/>
                  <a:pt x="17747" y="10546"/>
                </a:cubicBezTo>
                <a:lnTo>
                  <a:pt x="17747" y="11526"/>
                </a:lnTo>
                <a:cubicBezTo>
                  <a:pt x="17747" y="11552"/>
                  <a:pt x="17718" y="11573"/>
                  <a:pt x="17684" y="11573"/>
                </a:cubicBezTo>
                <a:lnTo>
                  <a:pt x="3916" y="11573"/>
                </a:lnTo>
                <a:cubicBezTo>
                  <a:pt x="3882" y="11573"/>
                  <a:pt x="3853" y="11552"/>
                  <a:pt x="3853" y="11526"/>
                </a:cubicBezTo>
                <a:lnTo>
                  <a:pt x="3853" y="10546"/>
                </a:lnTo>
                <a:cubicBezTo>
                  <a:pt x="3853" y="10520"/>
                  <a:pt x="3882" y="10498"/>
                  <a:pt x="3916" y="10498"/>
                </a:cubicBezTo>
                <a:close/>
                <a:moveTo>
                  <a:pt x="3916" y="13182"/>
                </a:moveTo>
                <a:lnTo>
                  <a:pt x="17684" y="13182"/>
                </a:lnTo>
                <a:cubicBezTo>
                  <a:pt x="17718" y="13182"/>
                  <a:pt x="17747" y="13204"/>
                  <a:pt x="17747" y="13230"/>
                </a:cubicBezTo>
                <a:lnTo>
                  <a:pt x="17747" y="14210"/>
                </a:lnTo>
                <a:cubicBezTo>
                  <a:pt x="17747" y="14237"/>
                  <a:pt x="17718" y="14257"/>
                  <a:pt x="17684" y="14257"/>
                </a:cubicBezTo>
                <a:lnTo>
                  <a:pt x="3916" y="14257"/>
                </a:lnTo>
                <a:cubicBezTo>
                  <a:pt x="3882" y="14257"/>
                  <a:pt x="3853" y="14237"/>
                  <a:pt x="3853" y="14210"/>
                </a:cubicBezTo>
                <a:lnTo>
                  <a:pt x="3853" y="13230"/>
                </a:lnTo>
                <a:cubicBezTo>
                  <a:pt x="3853" y="13204"/>
                  <a:pt x="3882" y="13182"/>
                  <a:pt x="3916" y="13182"/>
                </a:cubicBezTo>
                <a:close/>
                <a:moveTo>
                  <a:pt x="3916" y="15866"/>
                </a:moveTo>
                <a:lnTo>
                  <a:pt x="17684" y="15866"/>
                </a:lnTo>
                <a:cubicBezTo>
                  <a:pt x="17718" y="15866"/>
                  <a:pt x="17747" y="15888"/>
                  <a:pt x="17747" y="15914"/>
                </a:cubicBezTo>
                <a:lnTo>
                  <a:pt x="17747" y="16894"/>
                </a:lnTo>
                <a:cubicBezTo>
                  <a:pt x="17747" y="16921"/>
                  <a:pt x="17718" y="16941"/>
                  <a:pt x="17684" y="16941"/>
                </a:cubicBezTo>
                <a:lnTo>
                  <a:pt x="3916" y="16941"/>
                </a:lnTo>
                <a:cubicBezTo>
                  <a:pt x="3882" y="16941"/>
                  <a:pt x="3853" y="16921"/>
                  <a:pt x="3853" y="16894"/>
                </a:cubicBezTo>
                <a:lnTo>
                  <a:pt x="3853" y="15914"/>
                </a:lnTo>
                <a:cubicBezTo>
                  <a:pt x="3853" y="15888"/>
                  <a:pt x="3882" y="15866"/>
                  <a:pt x="3916" y="15866"/>
                </a:cubicBezTo>
                <a:close/>
              </a:path>
            </a:pathLst>
          </a:custGeom>
          <a:solidFill>
            <a:srgbClr val="00A1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6" name="Metadata"/>
          <p:cNvSpPr txBox="1"/>
          <p:nvPr/>
        </p:nvSpPr>
        <p:spPr>
          <a:xfrm>
            <a:off x="16516572" y="3314889"/>
            <a:ext cx="240944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Metadata</a:t>
            </a:r>
          </a:p>
        </p:txBody>
      </p:sp>
      <p:sp>
        <p:nvSpPr>
          <p:cNvPr id="397" name="Metadata"/>
          <p:cNvSpPr txBox="1"/>
          <p:nvPr/>
        </p:nvSpPr>
        <p:spPr>
          <a:xfrm>
            <a:off x="14027371" y="4247074"/>
            <a:ext cx="240944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Metadata</a:t>
            </a:r>
          </a:p>
        </p:txBody>
      </p:sp>
      <p:sp>
        <p:nvSpPr>
          <p:cNvPr id="398" name="Data About Data"/>
          <p:cNvSpPr txBox="1"/>
          <p:nvPr/>
        </p:nvSpPr>
        <p:spPr>
          <a:xfrm>
            <a:off x="4560283" y="2662032"/>
            <a:ext cx="4122421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Data About Data</a:t>
            </a:r>
          </a:p>
        </p:txBody>
      </p:sp>
      <p:sp>
        <p:nvSpPr>
          <p:cNvPr id="399" name="Chunk"/>
          <p:cNvSpPr txBox="1"/>
          <p:nvPr/>
        </p:nvSpPr>
        <p:spPr>
          <a:xfrm>
            <a:off x="17373596" y="1775120"/>
            <a:ext cx="168605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Chunk</a:t>
            </a:r>
          </a:p>
        </p:txBody>
      </p:sp>
      <p:sp>
        <p:nvSpPr>
          <p:cNvPr id="400" name="Author"/>
          <p:cNvSpPr txBox="1"/>
          <p:nvPr/>
        </p:nvSpPr>
        <p:spPr>
          <a:xfrm>
            <a:off x="21810051" y="3314889"/>
            <a:ext cx="1751585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Author</a:t>
            </a:r>
          </a:p>
        </p:txBody>
      </p:sp>
      <p:sp>
        <p:nvSpPr>
          <p:cNvPr id="401" name="Category"/>
          <p:cNvSpPr txBox="1"/>
          <p:nvPr/>
        </p:nvSpPr>
        <p:spPr>
          <a:xfrm>
            <a:off x="21810051" y="4190806"/>
            <a:ext cx="233476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Category</a:t>
            </a:r>
          </a:p>
        </p:txBody>
      </p:sp>
      <p:sp>
        <p:nvSpPr>
          <p:cNvPr id="402" name="Department"/>
          <p:cNvSpPr txBox="1"/>
          <p:nvPr/>
        </p:nvSpPr>
        <p:spPr>
          <a:xfrm>
            <a:off x="21481121" y="4888923"/>
            <a:ext cx="299262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4000">
                <a:solidFill>
                  <a:srgbClr val="000000"/>
                </a:solidFill>
              </a:defRPr>
            </a:lvl1pPr>
          </a:lstStyle>
          <a:p>
            <a:pPr/>
            <a:r>
              <a:t>Department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Subtype="0" presetID="1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Subtype="0" presetID="1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Class="entr" nodeType="clickEffect" presetSubtype="0" presetID="1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Subtype="0" presetID="1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Class="entr" nodeType="clickEffect" presetSubtype="0" presetID="1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Subtype="0" presetID="1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Class="entr" nodeType="clickEffect" presetSubtype="0" presetID="1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Class="entr" nodeType="clickEffect" presetSubtype="0" presetID="1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Class="entr" nodeType="clickEffect" presetSubtype="0" presetID="1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Class="entr" nodeType="clickEffect" presetSubtype="0" presetID="1" grpId="2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Class="entr" nodeType="clickEffect" presetSubtype="0" presetID="1" grpId="2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Class="entr" nodeType="clickEffect" presetSubtype="0" presetID="1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2" grpId="17"/>
      <p:bldP build="whole" bldLvl="1" animBg="1" rev="0" advAuto="0" spid="396" grpId="7"/>
      <p:bldP build="whole" bldLvl="1" animBg="1" rev="0" advAuto="0" spid="378" grpId="18"/>
      <p:bldP build="whole" bldLvl="1" animBg="1" rev="0" advAuto="0" spid="390" grpId="28"/>
      <p:bldP build="whole" bldLvl="1" animBg="1" rev="0" advAuto="0" spid="386" grpId="24"/>
      <p:bldP build="whole" bldLvl="1" animBg="1" rev="0" advAuto="0" spid="402" grpId="11"/>
      <p:bldP build="whole" bldLvl="1" animBg="1" rev="0" advAuto="0" spid="374" grpId="1"/>
      <p:bldP build="whole" bldLvl="1" animBg="1" rev="0" advAuto="0" spid="393" grpId="29"/>
      <p:bldP build="whole" bldLvl="1" animBg="1" rev="0" advAuto="0" spid="389" grpId="27"/>
      <p:bldP build="whole" bldLvl="1" animBg="1" rev="0" advAuto="0" spid="381" grpId="3"/>
      <p:bldP build="whole" bldLvl="1" animBg="1" rev="0" advAuto="0" spid="401" grpId="10"/>
      <p:bldP build="whole" bldLvl="1" animBg="1" rev="0" advAuto="0" spid="375" grpId="13"/>
      <p:bldP build="whole" bldLvl="1" animBg="1" rev="0" advAuto="0" spid="397" grpId="15"/>
      <p:bldP build="whole" bldLvl="1" animBg="1" rev="0" advAuto="0" spid="379" grpId="14"/>
      <p:bldP build="whole" bldLvl="1" animBg="1" rev="0" advAuto="0" spid="385" grpId="23"/>
      <p:bldP build="whole" bldLvl="1" animBg="1" rev="0" advAuto="0" spid="380" grpId="4"/>
      <p:bldP build="whole" bldLvl="1" animBg="1" rev="0" advAuto="0" spid="382" grpId="16"/>
      <p:bldP build="whole" bldLvl="1" animBg="1" rev="0" advAuto="0" spid="395" grpId="21"/>
      <p:bldP build="whole" bldLvl="1" animBg="1" rev="0" advAuto="0" spid="391" grpId="12"/>
      <p:bldP build="whole" bldLvl="1" animBg="1" rev="0" advAuto="0" spid="400" grpId="9"/>
      <p:bldP build="whole" bldLvl="1" animBg="1" rev="0" advAuto="0" spid="384" grpId="8"/>
      <p:bldP build="whole" bldLvl="1" animBg="1" rev="0" advAuto="0" spid="388" grpId="26"/>
      <p:bldP build="whole" bldLvl="1" animBg="1" rev="0" advAuto="0" spid="377" grpId="20"/>
      <p:bldP build="whole" bldLvl="1" animBg="1" rev="0" advAuto="0" spid="399" grpId="6"/>
      <p:bldP build="whole" bldLvl="1" animBg="1" rev="0" advAuto="0" spid="383" grpId="5"/>
      <p:bldP build="whole" bldLvl="1" animBg="1" rev="0" advAuto="0" spid="398" grpId="2"/>
      <p:bldP build="whole" bldLvl="1" animBg="1" rev="0" advAuto="0" spid="376" grpId="19"/>
      <p:bldP build="whole" bldLvl="1" animBg="1" rev="0" advAuto="0" spid="394" grpId="22"/>
      <p:bldP build="whole" bldLvl="1" animBg="1" rev="0" advAuto="0" spid="387" grpId="25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emantic Search"/>
          <p:cNvSpPr txBox="1"/>
          <p:nvPr/>
        </p:nvSpPr>
        <p:spPr>
          <a:xfrm>
            <a:off x="578671" y="421428"/>
            <a:ext cx="1039241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Semantic Search</a:t>
            </a:r>
          </a:p>
        </p:txBody>
      </p:sp>
      <p:sp>
        <p:nvSpPr>
          <p:cNvPr id="405" name="Precise"/>
          <p:cNvSpPr txBox="1"/>
          <p:nvPr/>
        </p:nvSpPr>
        <p:spPr>
          <a:xfrm>
            <a:off x="2335103" y="2596117"/>
            <a:ext cx="3463037" cy="127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Precise</a:t>
            </a:r>
          </a:p>
        </p:txBody>
      </p:sp>
      <p:sp>
        <p:nvSpPr>
          <p:cNvPr id="406" name="Targeted"/>
          <p:cNvSpPr txBox="1"/>
          <p:nvPr/>
        </p:nvSpPr>
        <p:spPr>
          <a:xfrm>
            <a:off x="8548384" y="2596117"/>
            <a:ext cx="4037077" cy="127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Targeted</a:t>
            </a:r>
          </a:p>
        </p:txBody>
      </p:sp>
      <p:sp>
        <p:nvSpPr>
          <p:cNvPr id="407" name="Context Aware"/>
          <p:cNvSpPr txBox="1"/>
          <p:nvPr/>
        </p:nvSpPr>
        <p:spPr>
          <a:xfrm>
            <a:off x="15335704" y="2596117"/>
            <a:ext cx="6811773" cy="1279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Context Aware</a:t>
            </a:r>
          </a:p>
        </p:txBody>
      </p:sp>
      <p:sp>
        <p:nvSpPr>
          <p:cNvPr id="408" name="Common Metadata"/>
          <p:cNvSpPr txBox="1"/>
          <p:nvPr/>
        </p:nvSpPr>
        <p:spPr>
          <a:xfrm>
            <a:off x="481868" y="5011917"/>
            <a:ext cx="11752581" cy="16268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10000">
                <a:solidFill>
                  <a:srgbClr val="000000"/>
                </a:solidFill>
              </a:defRPr>
            </a:lvl1pPr>
          </a:lstStyle>
          <a:p>
            <a:pPr/>
            <a:r>
              <a:t>Common Metadata</a:t>
            </a:r>
          </a:p>
        </p:txBody>
      </p:sp>
      <p:sp>
        <p:nvSpPr>
          <p:cNvPr id="409" name="Source Information"/>
          <p:cNvSpPr txBox="1"/>
          <p:nvPr/>
        </p:nvSpPr>
        <p:spPr>
          <a:xfrm>
            <a:off x="425988" y="7074138"/>
            <a:ext cx="9425941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8000">
                <a:solidFill>
                  <a:srgbClr val="000000"/>
                </a:solidFill>
              </a:defRPr>
            </a:lvl1pPr>
          </a:lstStyle>
          <a:p>
            <a:pPr/>
            <a:r>
              <a:t>Source Information</a:t>
            </a:r>
          </a:p>
        </p:txBody>
      </p:sp>
      <p:sp>
        <p:nvSpPr>
          <p:cNvPr id="410" name="Categorical Tags"/>
          <p:cNvSpPr txBox="1"/>
          <p:nvPr/>
        </p:nvSpPr>
        <p:spPr>
          <a:xfrm>
            <a:off x="450880" y="8801338"/>
            <a:ext cx="825855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8000">
                <a:solidFill>
                  <a:srgbClr val="000000"/>
                </a:solidFill>
              </a:defRPr>
            </a:lvl1pPr>
          </a:lstStyle>
          <a:p>
            <a:pPr/>
            <a:r>
              <a:t>Categorical Tags</a:t>
            </a:r>
          </a:p>
        </p:txBody>
      </p:sp>
      <p:sp>
        <p:nvSpPr>
          <p:cNvPr id="411" name="Timestamps"/>
          <p:cNvSpPr txBox="1"/>
          <p:nvPr/>
        </p:nvSpPr>
        <p:spPr>
          <a:xfrm>
            <a:off x="552480" y="10528539"/>
            <a:ext cx="6074157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8000">
                <a:solidFill>
                  <a:srgbClr val="000000"/>
                </a:solidFill>
              </a:defRPr>
            </a:lvl1pPr>
          </a:lstStyle>
          <a:p>
            <a:pPr/>
            <a:r>
              <a:t>Timestamps</a:t>
            </a:r>
          </a:p>
        </p:txBody>
      </p:sp>
      <p:sp>
        <p:nvSpPr>
          <p:cNvPr id="412" name="Custom Fields"/>
          <p:cNvSpPr txBox="1"/>
          <p:nvPr/>
        </p:nvSpPr>
        <p:spPr>
          <a:xfrm>
            <a:off x="530179" y="12077938"/>
            <a:ext cx="7072885" cy="1304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b="1" sz="8000">
                <a:solidFill>
                  <a:srgbClr val="000000"/>
                </a:solidFill>
              </a:defRPr>
            </a:lvl1pPr>
          </a:lstStyle>
          <a:p>
            <a:pPr/>
            <a:r>
              <a:t>Custom Fields</a:t>
            </a:r>
          </a:p>
        </p:txBody>
      </p:sp>
      <p:sp>
        <p:nvSpPr>
          <p:cNvPr id="413" name="File Name"/>
          <p:cNvSpPr txBox="1"/>
          <p:nvPr/>
        </p:nvSpPr>
        <p:spPr>
          <a:xfrm>
            <a:off x="11263152" y="7086326"/>
            <a:ext cx="466801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File Name</a:t>
            </a:r>
          </a:p>
        </p:txBody>
      </p:sp>
      <p:sp>
        <p:nvSpPr>
          <p:cNvPr id="414" name="Url"/>
          <p:cNvSpPr txBox="1"/>
          <p:nvPr/>
        </p:nvSpPr>
        <p:spPr>
          <a:xfrm>
            <a:off x="17670048" y="7086326"/>
            <a:ext cx="141173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Url</a:t>
            </a:r>
          </a:p>
        </p:txBody>
      </p:sp>
      <p:sp>
        <p:nvSpPr>
          <p:cNvPr id="415" name="Department"/>
          <p:cNvSpPr txBox="1"/>
          <p:nvPr/>
        </p:nvSpPr>
        <p:spPr>
          <a:xfrm>
            <a:off x="11314968" y="8813527"/>
            <a:ext cx="5478781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Department</a:t>
            </a:r>
          </a:p>
        </p:txBody>
      </p:sp>
      <p:sp>
        <p:nvSpPr>
          <p:cNvPr id="416" name="Doc Type"/>
          <p:cNvSpPr txBox="1"/>
          <p:nvPr/>
        </p:nvSpPr>
        <p:spPr>
          <a:xfrm>
            <a:off x="17687321" y="8813527"/>
            <a:ext cx="4367277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Doc Type</a:t>
            </a:r>
          </a:p>
        </p:txBody>
      </p:sp>
      <p:sp>
        <p:nvSpPr>
          <p:cNvPr id="417" name="Created_At"/>
          <p:cNvSpPr txBox="1"/>
          <p:nvPr/>
        </p:nvSpPr>
        <p:spPr>
          <a:xfrm>
            <a:off x="11244356" y="10540727"/>
            <a:ext cx="5213605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Created_At</a:t>
            </a:r>
          </a:p>
        </p:txBody>
      </p:sp>
      <p:sp>
        <p:nvSpPr>
          <p:cNvPr id="418" name="Last_Updated"/>
          <p:cNvSpPr txBox="1"/>
          <p:nvPr/>
        </p:nvSpPr>
        <p:spPr>
          <a:xfrm>
            <a:off x="17655825" y="10540727"/>
            <a:ext cx="6513069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Last_Updated</a:t>
            </a:r>
          </a:p>
        </p:txBody>
      </p:sp>
      <p:sp>
        <p:nvSpPr>
          <p:cNvPr id="419" name="Category"/>
          <p:cNvSpPr txBox="1"/>
          <p:nvPr/>
        </p:nvSpPr>
        <p:spPr>
          <a:xfrm>
            <a:off x="11461272" y="12090127"/>
            <a:ext cx="4271773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Category</a:t>
            </a:r>
          </a:p>
        </p:txBody>
      </p:sp>
      <p:sp>
        <p:nvSpPr>
          <p:cNvPr id="420" name="Version"/>
          <p:cNvSpPr txBox="1"/>
          <p:nvPr/>
        </p:nvSpPr>
        <p:spPr>
          <a:xfrm>
            <a:off x="17640585" y="12090127"/>
            <a:ext cx="3444749" cy="1279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defRPr sz="8000">
                <a:solidFill>
                  <a:srgbClr val="000000"/>
                </a:solidFill>
              </a:defRPr>
            </a:lvl1pPr>
          </a:lstStyle>
          <a:p>
            <a:pPr/>
            <a:r>
              <a:t>Version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0" presetID="1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0" presetID="1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0" presetID="1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0" presetID="1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0" presetID="1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Subtype="0" presetID="1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0" presetID="1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0" presetID="1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Class="entr" nodeType="clickEffect" presetSubtype="0" presetID="1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0" presetID="1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Subtype="0" presetID="1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Class="entr" nodeType="clickEffect" presetSubtype="0" presetID="1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Subtype="0" presetID="1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6" grpId="3"/>
      <p:bldP build="whole" bldLvl="1" animBg="1" rev="0" advAuto="0" spid="404" grpId="1"/>
      <p:bldP build="whole" bldLvl="1" animBg="1" rev="0" advAuto="0" spid="408" grpId="5"/>
      <p:bldP build="whole" bldLvl="1" animBg="1" rev="0" advAuto="0" spid="405" grpId="2"/>
      <p:bldP build="whole" bldLvl="1" animBg="1" rev="0" advAuto="0" spid="418" grpId="14"/>
      <p:bldP build="whole" bldLvl="1" animBg="1" rev="0" advAuto="0" spid="415" grpId="10"/>
      <p:bldP build="whole" bldLvl="1" animBg="1" rev="0" advAuto="0" spid="417" grpId="13"/>
      <p:bldP build="whole" bldLvl="1" animBg="1" rev="0" advAuto="0" spid="414" grpId="8"/>
      <p:bldP build="whole" bldLvl="1" animBg="1" rev="0" advAuto="0" spid="412" grpId="15"/>
      <p:bldP build="whole" bldLvl="1" animBg="1" rev="0" advAuto="0" spid="419" grpId="16"/>
      <p:bldP build="whole" bldLvl="1" animBg="1" rev="0" advAuto="0" spid="409" grpId="6"/>
      <p:bldP build="whole" bldLvl="1" animBg="1" rev="0" advAuto="0" spid="420" grpId="17"/>
      <p:bldP build="whole" bldLvl="1" animBg="1" rev="0" advAuto="0" spid="416" grpId="11"/>
      <p:bldP build="whole" bldLvl="1" animBg="1" rev="0" advAuto="0" spid="411" grpId="12"/>
      <p:bldP build="whole" bldLvl="1" animBg="1" rev="0" advAuto="0" spid="407" grpId="4"/>
      <p:bldP build="whole" bldLvl="1" animBg="1" rev="0" advAuto="0" spid="410" grpId="9"/>
      <p:bldP build="whole" bldLvl="1" animBg="1" rev="0" advAuto="0" spid="413" grpId="7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